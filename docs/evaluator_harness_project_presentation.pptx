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77240" y="114300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800" dirty="0">
                <a:solidFill>
                  <a:srgbClr val="111827"/>
                </a:solidFill>
                <a:latin typeface="Aptos"/>
              </a:rPr>
              <a:t>Evaluator Harness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2960" y="1874519"/>
            <a:ext cx="94183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100" dirty="0">
                <a:solidFill>
                  <a:srgbClr val="334155"/>
                </a:solidFill>
                <a:latin typeface="Aptos"/>
              </a:rPr>
              <a:t>A lightweight, headless, Langfuse-first offline evaluation workflow for comparing LLM outputs with reproducible traces, scores, and human review.</a:t>
            </a:r>
          </a:p>
        </p:txBody>
      </p:sp>
      <p:sp>
        <p:nvSpPr>
          <p:cNvPr id="6" name="Shape 6"/>
          <p:cNvSpPr/>
          <p:nvPr/>
        </p:nvSpPr>
        <p:spPr>
          <a:xfrm>
            <a:off x="822960" y="3063240"/>
            <a:ext cx="2926080" cy="685800"/>
          </a:xfrm>
          <a:prstGeom prst="roundRect">
            <a:avLst/>
          </a:prstGeom>
          <a:solidFill>
            <a:srgbClr val="DBEAFE"/>
          </a:solidFill>
          <a:ln w="18000">
            <a:solidFill>
              <a:srgbClr val="93C5FD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2000" dirty="0">
                <a:solidFill>
                  <a:srgbClr val="1E3A8A"/>
                </a:solidFill>
                <a:latin typeface="Aptos"/>
              </a:rPr>
              <a:t>Collect Artifacts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0" y="3063240"/>
            <a:ext cx="2926080" cy="685800"/>
          </a:xfrm>
          <a:prstGeom prst="roundRect">
            <a:avLst/>
          </a:prstGeom>
          <a:solidFill>
            <a:srgbClr val="CCFBF1"/>
          </a:solidFill>
          <a:ln w="18000">
            <a:solidFill>
              <a:srgbClr val="5EEAD4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2000" dirty="0">
                <a:solidFill>
                  <a:srgbClr val="134E4A"/>
                </a:solidFill>
                <a:latin typeface="Aptos"/>
              </a:rPr>
              <a:t>Setup Langfuse</a:t>
            </a:r>
          </a:p>
        </p:txBody>
      </p:sp>
      <p:sp>
        <p:nvSpPr>
          <p:cNvPr id="8" name="Shape 8"/>
          <p:cNvSpPr/>
          <p:nvPr/>
        </p:nvSpPr>
        <p:spPr>
          <a:xfrm>
            <a:off x="7406640" y="3063240"/>
            <a:ext cx="2926080" cy="685800"/>
          </a:xfrm>
          <a:prstGeom prst="roundRect">
            <a:avLst/>
          </a:prstGeom>
          <a:solidFill>
            <a:srgbClr val="DCFCE7"/>
          </a:solidFill>
          <a:ln w="18000">
            <a:solidFill>
              <a:srgbClr val="86EFAC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2000" dirty="0">
                <a:solidFill>
                  <a:srgbClr val="14532D"/>
                </a:solidFill>
                <a:latin typeface="Aptos"/>
              </a:rPr>
              <a:t>Run Experiments</a:t>
            </a:r>
          </a:p>
        </p:txBody>
      </p:sp>
      <p:cxnSp>
        <p:nvCxnSpPr>
          <p:cNvPr id="9" name="Arrow 9"/>
          <p:cNvCxnSpPr/>
          <p:nvPr/>
        </p:nvCxnSpPr>
        <p:spPr>
          <a:xfrm>
            <a:off x="3776472" y="3401568"/>
            <a:ext cx="320040" cy="0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cxnSp>
        <p:nvCxnSpPr>
          <p:cNvPr id="10" name="Arrow 10"/>
          <p:cNvCxnSpPr/>
          <p:nvPr/>
        </p:nvCxnSpPr>
        <p:spPr>
          <a:xfrm>
            <a:off x="7068312" y="3401568"/>
            <a:ext cx="320039" cy="0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sp>
        <p:nvSpPr>
          <p:cNvPr id="11" name="TextBox 11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475569"/>
                </a:solidFill>
                <a:latin typeface="Aptos"/>
              </a:rPr>
              <a:t>Demo focus: LLM-as-judge, human annotation queue, and score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9966960" cy="55399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000" dirty="0" err="1">
                <a:solidFill>
                  <a:srgbClr val="111827"/>
                </a:solidFill>
                <a:latin typeface="Aptos"/>
              </a:rPr>
              <a:t>Langfuse</a:t>
            </a:r>
            <a:r>
              <a:rPr lang="en-US" sz="3000" dirty="0">
                <a:solidFill>
                  <a:srgbClr val="111827"/>
                </a:solidFill>
                <a:latin typeface="Aptos"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475569"/>
                </a:solidFill>
                <a:latin typeface="Aptos"/>
              </a:rPr>
              <a:t>The shared system of record for LLM observability and evaluation</a:t>
            </a:r>
          </a:p>
        </p:txBody>
      </p:sp>
      <p:sp>
        <p:nvSpPr>
          <p:cNvPr id="4" name="Title Rule"/>
          <p:cNvSpPr/>
          <p:nvPr/>
        </p:nvSpPr>
        <p:spPr>
          <a:xfrm>
            <a:off x="502920" y="1143000"/>
            <a:ext cx="950976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777240" y="1508760"/>
            <a:ext cx="5074920" cy="1417320"/>
          </a:xfrm>
          <a:prstGeom prst="roundRect">
            <a:avLst/>
          </a:prstGeom>
          <a:solidFill>
            <a:srgbClr val="DBEAFE"/>
          </a:solidFill>
          <a:ln w="18000">
            <a:solidFill>
              <a:srgbClr val="FFFFFF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051560" y="170992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100" dirty="0">
                <a:solidFill>
                  <a:srgbClr val="1E3A8A"/>
                </a:solidFill>
                <a:latin typeface="Aptos"/>
              </a:rPr>
              <a:t>Open Source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1560" y="2061727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Core platform is open source, so teams can inspect, extend, and self-host when needed.</a:t>
            </a:r>
          </a:p>
        </p:txBody>
      </p:sp>
      <p:sp>
        <p:nvSpPr>
          <p:cNvPr id="8" name="Shape 8"/>
          <p:cNvSpPr/>
          <p:nvPr/>
        </p:nvSpPr>
        <p:spPr>
          <a:xfrm>
            <a:off x="6400800" y="1508760"/>
            <a:ext cx="5074920" cy="1417320"/>
          </a:xfrm>
          <a:prstGeom prst="roundRect">
            <a:avLst/>
          </a:prstGeom>
          <a:solidFill>
            <a:srgbClr val="CCFBF1"/>
          </a:solidFill>
          <a:ln w="18000">
            <a:solidFill>
              <a:srgbClr val="FFFFFF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6675120" y="170992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100" dirty="0">
                <a:solidFill>
                  <a:srgbClr val="134E4A"/>
                </a:solidFill>
                <a:latin typeface="Aptos"/>
              </a:rPr>
              <a:t>Cloud Or Self Hosted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75120" y="2061727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Use managed Langfuse Cloud or operate your own deployment for governance and control.</a:t>
            </a:r>
          </a:p>
        </p:txBody>
      </p:sp>
      <p:sp>
        <p:nvSpPr>
          <p:cNvPr id="11" name="Shape 11"/>
          <p:cNvSpPr/>
          <p:nvPr/>
        </p:nvSpPr>
        <p:spPr>
          <a:xfrm>
            <a:off x="777240" y="3383279"/>
            <a:ext cx="5074920" cy="1417320"/>
          </a:xfrm>
          <a:prstGeom prst="roundRect">
            <a:avLst/>
          </a:prstGeom>
          <a:solidFill>
            <a:srgbClr val="DCFCE7"/>
          </a:solidFill>
          <a:ln w="18000">
            <a:solidFill>
              <a:srgbClr val="FFFFFF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051560" y="358444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100" dirty="0">
                <a:solidFill>
                  <a:srgbClr val="14532D"/>
                </a:solidFill>
                <a:latin typeface="Aptos"/>
              </a:rPr>
              <a:t>LLM Observability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1560" y="3906749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Capture traces, generations, metadata, prompts, sessions, and user or evaluator feedback.</a:t>
            </a:r>
          </a:p>
        </p:txBody>
      </p:sp>
      <p:sp>
        <p:nvSpPr>
          <p:cNvPr id="14" name="Shape 14"/>
          <p:cNvSpPr/>
          <p:nvPr/>
        </p:nvSpPr>
        <p:spPr>
          <a:xfrm>
            <a:off x="6400800" y="3383279"/>
            <a:ext cx="5074920" cy="1417320"/>
          </a:xfrm>
          <a:prstGeom prst="roundRect">
            <a:avLst/>
          </a:prstGeom>
          <a:solidFill>
            <a:srgbClr val="FEF3C7"/>
          </a:solidFill>
          <a:ln w="18000">
            <a:solidFill>
              <a:srgbClr val="FFFFFF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6675120" y="358444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100" dirty="0">
                <a:solidFill>
                  <a:srgbClr val="78350F"/>
                </a:solidFill>
                <a:latin typeface="Aptos"/>
              </a:rPr>
              <a:t>Evaluation Workflows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75120" y="3906751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Manage datasets, scores, evaluators, experiments, and human annotation workflows.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64F83E-80DD-7F91-801A-FB05CAE44974}"/>
              </a:ext>
            </a:extLst>
          </p:cNvPr>
          <p:cNvSpPr txBox="1"/>
          <p:nvPr/>
        </p:nvSpPr>
        <p:spPr>
          <a:xfrm>
            <a:off x="502920" y="5869858"/>
            <a:ext cx="10892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https://langfuse.com/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9966960" cy="55399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000" dirty="0">
                <a:solidFill>
                  <a:srgbClr val="111827"/>
                </a:solidFill>
                <a:latin typeface="Aptos"/>
              </a:rPr>
              <a:t>Evaluation Harness Objectives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475569"/>
                </a:solidFill>
                <a:latin typeface="Aptos"/>
              </a:rPr>
              <a:t>What the app is for</a:t>
            </a:r>
          </a:p>
        </p:txBody>
      </p:sp>
      <p:sp>
        <p:nvSpPr>
          <p:cNvPr id="4" name="Title Rule"/>
          <p:cNvSpPr/>
          <p:nvPr/>
        </p:nvSpPr>
        <p:spPr>
          <a:xfrm>
            <a:off x="502920" y="1143000"/>
            <a:ext cx="950976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685800" y="1508760"/>
            <a:ext cx="5257800" cy="434340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685800" y="1508760"/>
            <a:ext cx="73152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941832" y="1691639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111827"/>
                </a:solidFill>
                <a:latin typeface="Aptos"/>
              </a:rPr>
              <a:t>Primary purpose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8408" y="2103120"/>
            <a:ext cx="4754880" cy="29700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Run project datasets against baseline and candidate LLM configurations</a:t>
            </a:r>
          </a:p>
          <a:p>
            <a:pPr algn="l"/>
            <a:endParaRPr lang="en-US" sz="170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Compare variants across model, prompt, and generation parameters</a:t>
            </a:r>
            <a:br>
              <a:rPr lang="en-US" sz="1700" dirty="0">
                <a:solidFill>
                  <a:srgbClr val="334155"/>
                </a:solidFill>
                <a:latin typeface="Aptos"/>
              </a:rPr>
            </a:br>
            <a:endParaRPr lang="en-US" sz="170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Record reproducibility metadata so runs can be inspected later</a:t>
            </a:r>
            <a:br>
              <a:rPr lang="en-US" sz="1700" dirty="0">
                <a:solidFill>
                  <a:srgbClr val="334155"/>
                </a:solidFill>
                <a:latin typeface="Aptos"/>
              </a:rPr>
            </a:br>
            <a:endParaRPr lang="en-US" sz="170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Keep local project files as the source of truth for validation and execution</a:t>
            </a:r>
          </a:p>
        </p:txBody>
      </p:sp>
      <p:sp>
        <p:nvSpPr>
          <p:cNvPr id="9" name="Shape 9"/>
          <p:cNvSpPr/>
          <p:nvPr/>
        </p:nvSpPr>
        <p:spPr>
          <a:xfrm>
            <a:off x="6263640" y="1508760"/>
            <a:ext cx="4892040" cy="434340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0" name="Shape 10"/>
          <p:cNvSpPr/>
          <p:nvPr/>
        </p:nvSpPr>
        <p:spPr>
          <a:xfrm>
            <a:off x="6263640" y="1508760"/>
            <a:ext cx="73152" cy="4343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6519672" y="1691639"/>
            <a:ext cx="4480559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111827"/>
                </a:solidFill>
                <a:latin typeface="Aptos"/>
              </a:rPr>
              <a:t>What stays in Langfuse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56248" y="2103120"/>
            <a:ext cx="4389120" cy="29700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Traces and observations for each evaluated item</a:t>
            </a:r>
            <a:br>
              <a:rPr lang="en-US" sz="1700" dirty="0">
                <a:solidFill>
                  <a:srgbClr val="334155"/>
                </a:solidFill>
                <a:latin typeface="Aptos"/>
              </a:rPr>
            </a:br>
            <a:endParaRPr lang="en-US" sz="170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Prompt visibility for task and evaluator prompts</a:t>
            </a:r>
            <a:br>
              <a:rPr lang="en-US" sz="1700" dirty="0">
                <a:solidFill>
                  <a:srgbClr val="334155"/>
                </a:solidFill>
                <a:latin typeface="Aptos"/>
              </a:rPr>
            </a:br>
            <a:endParaRPr lang="en-US" sz="170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Evaluator definitions, score configs, scores, dashboards, and comparisons</a:t>
            </a:r>
            <a:br>
              <a:rPr lang="en-US" sz="1700" dirty="0">
                <a:solidFill>
                  <a:srgbClr val="334155"/>
                </a:solidFill>
                <a:latin typeface="Aptos"/>
              </a:rPr>
            </a:br>
            <a:endParaRPr lang="en-US" sz="170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Human annotation queues for selected outputs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ptos"/>
              </a:rPr>
              <a:t>Evaluator Harness | Langfuse-first offline evaluation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000" dirty="0">
                <a:solidFill>
                  <a:srgbClr val="111827"/>
                </a:solidFill>
                <a:latin typeface="Aptos"/>
              </a:rPr>
              <a:t>What The Harness Does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475569"/>
                </a:solidFill>
                <a:latin typeface="Aptos"/>
              </a:rPr>
              <a:t>A thin local runner around project artifacts and Langfuse</a:t>
            </a:r>
          </a:p>
        </p:txBody>
      </p:sp>
      <p:sp>
        <p:nvSpPr>
          <p:cNvPr id="4" name="Title Rule"/>
          <p:cNvSpPr/>
          <p:nvPr/>
        </p:nvSpPr>
        <p:spPr>
          <a:xfrm>
            <a:off x="502920" y="1143000"/>
            <a:ext cx="950976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731520" y="1600200"/>
            <a:ext cx="2331720" cy="960120"/>
          </a:xfrm>
          <a:prstGeom prst="roundRect">
            <a:avLst/>
          </a:prstGeom>
          <a:solidFill>
            <a:srgbClr val="EFF6FF"/>
          </a:solidFill>
          <a:ln w="18000">
            <a:solidFill>
              <a:srgbClr val="BFDBFE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900" dirty="0">
                <a:solidFill>
                  <a:srgbClr val="1E3A8A"/>
                </a:solidFill>
                <a:latin typeface="Aptos"/>
              </a:rPr>
              <a:t>Project YAML</a:t>
            </a:r>
          </a:p>
          <a:p>
            <a:pPr algn="ctr"/>
            <a:r>
              <a:rPr lang="en-US" sz="1900" dirty="0">
                <a:solidFill>
                  <a:srgbClr val="1E3A8A"/>
                </a:solidFill>
                <a:latin typeface="Aptos"/>
              </a:rPr>
              <a:t>Dataset</a:t>
            </a:r>
          </a:p>
          <a:p>
            <a:pPr algn="ctr"/>
            <a:r>
              <a:rPr lang="en-US" sz="1900" dirty="0">
                <a:solidFill>
                  <a:srgbClr val="1E3A8A"/>
                </a:solidFill>
                <a:latin typeface="Aptos"/>
              </a:rPr>
              <a:t>Prompts</a:t>
            </a:r>
          </a:p>
        </p:txBody>
      </p:sp>
      <p:sp>
        <p:nvSpPr>
          <p:cNvPr id="6" name="Shape 6"/>
          <p:cNvSpPr/>
          <p:nvPr/>
        </p:nvSpPr>
        <p:spPr>
          <a:xfrm>
            <a:off x="3886200" y="1600200"/>
            <a:ext cx="2331720" cy="960120"/>
          </a:xfrm>
          <a:prstGeom prst="roundRect">
            <a:avLst/>
          </a:prstGeom>
          <a:solidFill>
            <a:srgbClr val="F8FAFC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900" dirty="0">
                <a:solidFill>
                  <a:srgbClr val="111827"/>
                </a:solidFill>
                <a:latin typeface="Aptos"/>
              </a:rPr>
              <a:t>Baseline Run</a:t>
            </a:r>
          </a:p>
          <a:p>
            <a:pPr algn="ctr"/>
            <a:r>
              <a:rPr lang="en-US" sz="1900" dirty="0">
                <a:solidFill>
                  <a:srgbClr val="111827"/>
                </a:solidFill>
                <a:latin typeface="Aptos"/>
              </a:rPr>
              <a:t>Candidate Run</a:t>
            </a:r>
          </a:p>
        </p:txBody>
      </p:sp>
      <p:sp>
        <p:nvSpPr>
          <p:cNvPr id="7" name="Shape 7"/>
          <p:cNvSpPr/>
          <p:nvPr/>
        </p:nvSpPr>
        <p:spPr>
          <a:xfrm>
            <a:off x="6940296" y="1578077"/>
            <a:ext cx="2331720" cy="960120"/>
          </a:xfrm>
          <a:prstGeom prst="roundRect">
            <a:avLst/>
          </a:prstGeom>
          <a:solidFill>
            <a:srgbClr val="ECFDF5"/>
          </a:solidFill>
          <a:ln w="18000">
            <a:solidFill>
              <a:srgbClr val="A7F3D0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900" dirty="0">
                <a:solidFill>
                  <a:srgbClr val="064E3B"/>
                </a:solidFill>
                <a:latin typeface="Aptos"/>
              </a:rPr>
              <a:t>Langfuse</a:t>
            </a:r>
          </a:p>
          <a:p>
            <a:pPr algn="ctr"/>
            <a:r>
              <a:rPr lang="en-US" sz="1900" dirty="0">
                <a:solidFill>
                  <a:srgbClr val="064E3B"/>
                </a:solidFill>
                <a:latin typeface="Aptos"/>
              </a:rPr>
              <a:t>Trace Store</a:t>
            </a:r>
          </a:p>
        </p:txBody>
      </p:sp>
      <p:sp>
        <p:nvSpPr>
          <p:cNvPr id="8" name="Shape 8"/>
          <p:cNvSpPr/>
          <p:nvPr/>
        </p:nvSpPr>
        <p:spPr>
          <a:xfrm>
            <a:off x="9601200" y="1600200"/>
            <a:ext cx="2057400" cy="960120"/>
          </a:xfrm>
          <a:prstGeom prst="roundRect">
            <a:avLst/>
          </a:prstGeom>
          <a:solidFill>
            <a:srgbClr val="FFF7ED"/>
          </a:solidFill>
          <a:ln w="18000">
            <a:solidFill>
              <a:srgbClr val="FDBA74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900" dirty="0">
                <a:solidFill>
                  <a:srgbClr val="7C2D12"/>
                </a:solidFill>
                <a:latin typeface="Aptos"/>
              </a:rPr>
              <a:t>Scores</a:t>
            </a:r>
          </a:p>
          <a:p>
            <a:pPr algn="ctr"/>
            <a:r>
              <a:rPr lang="en-US" sz="1900" dirty="0">
                <a:solidFill>
                  <a:srgbClr val="7C2D12"/>
                </a:solidFill>
                <a:latin typeface="Aptos"/>
              </a:rPr>
              <a:t>Review</a:t>
            </a:r>
          </a:p>
        </p:txBody>
      </p:sp>
      <p:cxnSp>
        <p:nvCxnSpPr>
          <p:cNvPr id="9" name="Arrow 9"/>
          <p:cNvCxnSpPr/>
          <p:nvPr/>
        </p:nvCxnSpPr>
        <p:spPr>
          <a:xfrm>
            <a:off x="3090672" y="2057400"/>
            <a:ext cx="768095" cy="0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cxnSp>
        <p:nvCxnSpPr>
          <p:cNvPr id="10" name="Arrow 10"/>
          <p:cNvCxnSpPr>
            <a:cxnSpLocks/>
            <a:endCxn id="7" idx="1"/>
          </p:cNvCxnSpPr>
          <p:nvPr/>
        </p:nvCxnSpPr>
        <p:spPr>
          <a:xfrm>
            <a:off x="6245352" y="2057400"/>
            <a:ext cx="694944" cy="737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cxnSp>
        <p:nvCxnSpPr>
          <p:cNvPr id="11" name="Arrow 11"/>
          <p:cNvCxnSpPr>
            <a:cxnSpLocks/>
            <a:stCxn id="7" idx="3"/>
          </p:cNvCxnSpPr>
          <p:nvPr/>
        </p:nvCxnSpPr>
        <p:spPr>
          <a:xfrm flipV="1">
            <a:off x="9272016" y="2057400"/>
            <a:ext cx="301752" cy="737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sp>
        <p:nvSpPr>
          <p:cNvPr id="12" name="Shape 12"/>
          <p:cNvSpPr/>
          <p:nvPr/>
        </p:nvSpPr>
        <p:spPr>
          <a:xfrm>
            <a:off x="914400" y="3108960"/>
            <a:ext cx="10241280" cy="214884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3" name="Shape 13"/>
          <p:cNvSpPr/>
          <p:nvPr/>
        </p:nvSpPr>
        <p:spPr>
          <a:xfrm>
            <a:off x="914400" y="3108960"/>
            <a:ext cx="73152" cy="2148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170432" y="3291840"/>
            <a:ext cx="9829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111827"/>
                </a:solidFill>
                <a:latin typeface="Aptos"/>
              </a:rPr>
              <a:t>Boundaries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7008" y="3703320"/>
            <a:ext cx="9738359" cy="1138773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The harness does not try to become a dashboard, annotation UI, evaluator workbench, or prompt registry.</a:t>
            </a:r>
          </a:p>
          <a:p>
            <a:pPr algn="l"/>
            <a:r>
              <a:rPr lang="en-US" sz="1700" b="1" dirty="0">
                <a:solidFill>
                  <a:srgbClr val="334155"/>
                </a:solidFill>
                <a:latin typeface="Aptos"/>
              </a:rPr>
              <a:t>- It prepares and runs repeatable experiments, then sends the operational artifacts to Langfuse</a:t>
            </a:r>
            <a:r>
              <a:rPr lang="en-US" sz="1700" dirty="0">
                <a:solidFill>
                  <a:srgbClr val="334155"/>
                </a:solidFill>
                <a:latin typeface="Aptos"/>
              </a:rPr>
              <a:t>.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Setup commands support dry-run first, then apply, so changes can be previewed before mutation.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ptos"/>
              </a:rPr>
              <a:t>Evaluator Harness | Langfuse-first offline evaluation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000" dirty="0">
                <a:solidFill>
                  <a:srgbClr val="111827"/>
                </a:solidFill>
                <a:latin typeface="Aptos"/>
              </a:rPr>
              <a:t>Why Use Langfuse Here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475569"/>
                </a:solidFill>
                <a:latin typeface="Aptos"/>
              </a:rPr>
              <a:t>Benefits for an evaluation harness</a:t>
            </a:r>
          </a:p>
        </p:txBody>
      </p:sp>
      <p:sp>
        <p:nvSpPr>
          <p:cNvPr id="4" name="Title Rule"/>
          <p:cNvSpPr/>
          <p:nvPr/>
        </p:nvSpPr>
        <p:spPr>
          <a:xfrm>
            <a:off x="502920" y="1143000"/>
            <a:ext cx="950976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731520" y="1463040"/>
            <a:ext cx="5394960" cy="448056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731520" y="1463040"/>
            <a:ext cx="73152" cy="4480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987552" y="164592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111827"/>
                </a:solidFill>
                <a:latin typeface="Aptos"/>
              </a:rPr>
              <a:t>Operational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4128" y="2057400"/>
            <a:ext cx="4892040" cy="29700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Central place to inspect each item-level trace and model observation</a:t>
            </a:r>
            <a:br>
              <a:rPr lang="en-US" sz="1700" dirty="0">
                <a:solidFill>
                  <a:srgbClr val="334155"/>
                </a:solidFill>
                <a:latin typeface="Aptos"/>
              </a:rPr>
            </a:br>
            <a:endParaRPr lang="en-US" sz="170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Prompt and evaluator context available beside the outputs being judged</a:t>
            </a:r>
            <a:br>
              <a:rPr lang="en-US" sz="1700" dirty="0">
                <a:solidFill>
                  <a:srgbClr val="334155"/>
                </a:solidFill>
                <a:latin typeface="Aptos"/>
              </a:rPr>
            </a:br>
            <a:endParaRPr lang="en-US" sz="170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Score configs and score sources make automated and human signals comparable</a:t>
            </a:r>
            <a:br>
              <a:rPr lang="en-US" sz="1700" dirty="0">
                <a:solidFill>
                  <a:srgbClr val="334155"/>
                </a:solidFill>
                <a:latin typeface="Aptos"/>
              </a:rPr>
            </a:br>
            <a:endParaRPr lang="en-US" sz="170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Dashboards and comparisons stay in a purpose-built evaluation UI</a:t>
            </a:r>
          </a:p>
        </p:txBody>
      </p:sp>
      <p:sp>
        <p:nvSpPr>
          <p:cNvPr id="9" name="Shape 9"/>
          <p:cNvSpPr/>
          <p:nvPr/>
        </p:nvSpPr>
        <p:spPr>
          <a:xfrm>
            <a:off x="6400800" y="1463040"/>
            <a:ext cx="5029200" cy="448056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0" name="Shape 10"/>
          <p:cNvSpPr/>
          <p:nvPr/>
        </p:nvSpPr>
        <p:spPr>
          <a:xfrm>
            <a:off x="6400800" y="146304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6656832" y="164592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111827"/>
                </a:solidFill>
                <a:latin typeface="Aptos"/>
              </a:rPr>
              <a:t>Engineering benefits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93408" y="2057400"/>
            <a:ext cx="4526280" cy="270843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Cloud option for speed; self-hosted option for control</a:t>
            </a:r>
            <a:br>
              <a:rPr lang="en-US" sz="1700" dirty="0">
                <a:solidFill>
                  <a:srgbClr val="334155"/>
                </a:solidFill>
                <a:latin typeface="Aptos"/>
              </a:rPr>
            </a:br>
            <a:endParaRPr lang="en-US" sz="170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Open-source foundation reduces vendor lock-in risk</a:t>
            </a:r>
            <a:br>
              <a:rPr lang="en-US" sz="1700" dirty="0">
                <a:solidFill>
                  <a:srgbClr val="334155"/>
                </a:solidFill>
                <a:latin typeface="Aptos"/>
              </a:rPr>
            </a:br>
            <a:endParaRPr lang="en-US" sz="170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Harness can stay local-first and thin</a:t>
            </a:r>
            <a:br>
              <a:rPr lang="en-US" sz="1700" dirty="0">
                <a:solidFill>
                  <a:srgbClr val="334155"/>
                </a:solidFill>
                <a:latin typeface="Aptos"/>
              </a:rPr>
            </a:br>
            <a:endParaRPr lang="en-US" sz="1700" dirty="0">
              <a:solidFill>
                <a:srgbClr val="334155"/>
              </a:solidFill>
              <a:latin typeface="Aptos"/>
            </a:endParaRP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Dry-run/apply setup supports repeatable project onboarding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ptos"/>
              </a:rPr>
              <a:t>Evaluator Harness | Langfuse-first offline evaluation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000" dirty="0">
                <a:solidFill>
                  <a:srgbClr val="111827"/>
                </a:solidFill>
                <a:latin typeface="Aptos"/>
              </a:rPr>
              <a:t>Langfuse Artifacts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475569"/>
                </a:solidFill>
                <a:latin typeface="Aptos"/>
              </a:rPr>
              <a:t>How the harness maps local project concepts into Langfuse</a:t>
            </a:r>
          </a:p>
        </p:txBody>
      </p:sp>
      <p:sp>
        <p:nvSpPr>
          <p:cNvPr id="4" name="Title Rule"/>
          <p:cNvSpPr/>
          <p:nvPr/>
        </p:nvSpPr>
        <p:spPr>
          <a:xfrm>
            <a:off x="502920" y="1143000"/>
            <a:ext cx="950976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685800" y="1417320"/>
            <a:ext cx="3337560" cy="141732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685800" y="1417320"/>
            <a:ext cx="10972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978408" y="161848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100" dirty="0">
                <a:solidFill>
                  <a:srgbClr val="111827"/>
                </a:solidFill>
                <a:latin typeface="Aptos"/>
              </a:rPr>
              <a:t>Prompts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8408" y="2039112"/>
            <a:ext cx="28803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475569"/>
                </a:solidFill>
                <a:latin typeface="Aptos"/>
              </a:rPr>
              <a:t>Task prompts and LLM judge prompts synced as managed versions</a:t>
            </a:r>
          </a:p>
        </p:txBody>
      </p:sp>
      <p:sp>
        <p:nvSpPr>
          <p:cNvPr id="9" name="Shape 9"/>
          <p:cNvSpPr/>
          <p:nvPr/>
        </p:nvSpPr>
        <p:spPr>
          <a:xfrm>
            <a:off x="4480560" y="1417320"/>
            <a:ext cx="3337560" cy="141732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0" name="Shape 10"/>
          <p:cNvSpPr/>
          <p:nvPr/>
        </p:nvSpPr>
        <p:spPr>
          <a:xfrm>
            <a:off x="4480560" y="1417320"/>
            <a:ext cx="109728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4773168" y="161848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100" dirty="0">
                <a:solidFill>
                  <a:srgbClr val="111827"/>
                </a:solidFill>
                <a:latin typeface="Aptos"/>
              </a:rPr>
              <a:t>Datasets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73168" y="2039112"/>
            <a:ext cx="28803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475569"/>
                </a:solidFill>
                <a:latin typeface="Aptos"/>
              </a:rPr>
              <a:t>Project rows used for baseline and candidate runs</a:t>
            </a:r>
          </a:p>
        </p:txBody>
      </p:sp>
      <p:sp>
        <p:nvSpPr>
          <p:cNvPr id="13" name="Shape 13"/>
          <p:cNvSpPr/>
          <p:nvPr/>
        </p:nvSpPr>
        <p:spPr>
          <a:xfrm>
            <a:off x="8275320" y="1417320"/>
            <a:ext cx="3337560" cy="141732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4" name="Shape 14"/>
          <p:cNvSpPr/>
          <p:nvPr/>
        </p:nvSpPr>
        <p:spPr>
          <a:xfrm>
            <a:off x="8275320" y="1417320"/>
            <a:ext cx="10972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8567928" y="161848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100" dirty="0">
                <a:solidFill>
                  <a:srgbClr val="111827"/>
                </a:solidFill>
                <a:latin typeface="Aptos"/>
              </a:rPr>
              <a:t>Traces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7928" y="2039112"/>
            <a:ext cx="28803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475569"/>
                </a:solidFill>
                <a:latin typeface="Aptos"/>
              </a:rPr>
              <a:t>Per-item execution records with metadata and observations</a:t>
            </a:r>
          </a:p>
        </p:txBody>
      </p:sp>
      <p:sp>
        <p:nvSpPr>
          <p:cNvPr id="17" name="Shape 17"/>
          <p:cNvSpPr/>
          <p:nvPr/>
        </p:nvSpPr>
        <p:spPr>
          <a:xfrm>
            <a:off x="685800" y="3291839"/>
            <a:ext cx="3337560" cy="141732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8" name="Shape 18"/>
          <p:cNvSpPr/>
          <p:nvPr/>
        </p:nvSpPr>
        <p:spPr>
          <a:xfrm>
            <a:off x="685800" y="3291839"/>
            <a:ext cx="109728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978408" y="349300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100" dirty="0">
                <a:solidFill>
                  <a:srgbClr val="111827"/>
                </a:solidFill>
                <a:latin typeface="Aptos"/>
              </a:rPr>
              <a:t>Evaluators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8408" y="3913631"/>
            <a:ext cx="28803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475569"/>
                </a:solidFill>
                <a:latin typeface="Aptos"/>
              </a:rPr>
              <a:t>LLM-as-judge rules configured for target dimensions</a:t>
            </a:r>
          </a:p>
        </p:txBody>
      </p:sp>
      <p:sp>
        <p:nvSpPr>
          <p:cNvPr id="21" name="Shape 21"/>
          <p:cNvSpPr/>
          <p:nvPr/>
        </p:nvSpPr>
        <p:spPr>
          <a:xfrm>
            <a:off x="4480560" y="3291839"/>
            <a:ext cx="3337560" cy="141732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22" name="Shape 22"/>
          <p:cNvSpPr/>
          <p:nvPr/>
        </p:nvSpPr>
        <p:spPr>
          <a:xfrm>
            <a:off x="4480560" y="3291839"/>
            <a:ext cx="109728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4773168" y="349300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100" dirty="0">
                <a:solidFill>
                  <a:srgbClr val="111827"/>
                </a:solidFill>
                <a:latin typeface="Aptos"/>
              </a:rPr>
              <a:t>Scores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73168" y="3913631"/>
            <a:ext cx="28803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475569"/>
                </a:solidFill>
                <a:latin typeface="Aptos"/>
              </a:rPr>
              <a:t>Numeric/categorical results from judges and reviewers</a:t>
            </a:r>
          </a:p>
        </p:txBody>
      </p:sp>
      <p:sp>
        <p:nvSpPr>
          <p:cNvPr id="25" name="Shape 25"/>
          <p:cNvSpPr/>
          <p:nvPr/>
        </p:nvSpPr>
        <p:spPr>
          <a:xfrm>
            <a:off x="8275320" y="3291839"/>
            <a:ext cx="3337560" cy="141732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26" name="Shape 26"/>
          <p:cNvSpPr/>
          <p:nvPr/>
        </p:nvSpPr>
        <p:spPr>
          <a:xfrm>
            <a:off x="8275320" y="3291839"/>
            <a:ext cx="109728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8567928" y="349300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100" dirty="0">
                <a:solidFill>
                  <a:srgbClr val="111827"/>
                </a:solidFill>
                <a:latin typeface="Aptos"/>
              </a:rPr>
              <a:t>Queues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67928" y="3913631"/>
            <a:ext cx="28803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475569"/>
                </a:solidFill>
                <a:latin typeface="Aptos"/>
              </a:rPr>
              <a:t>Human annotation queue items selected from completed outputs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ptos"/>
              </a:rPr>
              <a:t>Evaluator Harness | Langfuse-first offline evaluation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000" dirty="0">
                <a:solidFill>
                  <a:srgbClr val="111827"/>
                </a:solidFill>
                <a:latin typeface="Aptos"/>
              </a:rPr>
              <a:t>Phase 1: Collect And Create Project Artifacts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475569"/>
                </a:solidFill>
                <a:latin typeface="Aptos"/>
              </a:rPr>
              <a:t>Local files remain authoritative</a:t>
            </a:r>
          </a:p>
        </p:txBody>
      </p:sp>
      <p:sp>
        <p:nvSpPr>
          <p:cNvPr id="4" name="Title Rule"/>
          <p:cNvSpPr/>
          <p:nvPr/>
        </p:nvSpPr>
        <p:spPr>
          <a:xfrm>
            <a:off x="502920" y="1143000"/>
            <a:ext cx="950976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Chevron 5"/>
          <p:cNvSpPr/>
          <p:nvPr/>
        </p:nvSpPr>
        <p:spPr>
          <a:xfrm>
            <a:off x="9188933" y="1803482"/>
            <a:ext cx="2057400" cy="677108"/>
          </a:xfrm>
          <a:prstGeom prst="chevron">
            <a:avLst/>
          </a:prstGeom>
          <a:solidFill>
            <a:srgbClr val="2563EB"/>
          </a:solidFill>
          <a:ln w="12000">
            <a:solidFill>
              <a:srgbClr val="FFFFFF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  <a:latin typeface="Aptos"/>
              </a:rPr>
              <a:t>Project YAML</a:t>
            </a:r>
          </a:p>
        </p:txBody>
      </p:sp>
      <p:sp>
        <p:nvSpPr>
          <p:cNvPr id="6" name="Chevron 6"/>
          <p:cNvSpPr/>
          <p:nvPr/>
        </p:nvSpPr>
        <p:spPr>
          <a:xfrm>
            <a:off x="432031" y="1803482"/>
            <a:ext cx="2057400" cy="677108"/>
          </a:xfrm>
          <a:prstGeom prst="chevron">
            <a:avLst/>
          </a:prstGeom>
          <a:solidFill>
            <a:srgbClr val="0F766E"/>
          </a:solidFill>
          <a:ln w="12000">
            <a:solidFill>
              <a:srgbClr val="FFFFFF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  <a:latin typeface="Aptos"/>
              </a:rPr>
              <a:t>Dataset CSV</a:t>
            </a:r>
          </a:p>
        </p:txBody>
      </p:sp>
      <p:sp>
        <p:nvSpPr>
          <p:cNvPr id="7" name="Chevron 7"/>
          <p:cNvSpPr/>
          <p:nvPr/>
        </p:nvSpPr>
        <p:spPr>
          <a:xfrm>
            <a:off x="2621256" y="1803482"/>
            <a:ext cx="2057400" cy="677108"/>
          </a:xfrm>
          <a:prstGeom prst="chevron">
            <a:avLst/>
          </a:prstGeom>
          <a:solidFill>
            <a:srgbClr val="16A34A"/>
          </a:solidFill>
          <a:ln w="12000">
            <a:solidFill>
              <a:srgbClr val="FFFFFF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  <a:latin typeface="Aptos"/>
              </a:rPr>
              <a:t>Task</a:t>
            </a:r>
            <a:br>
              <a:rPr lang="en-US" sz="1900" dirty="0">
                <a:solidFill>
                  <a:srgbClr val="FFFFFF"/>
                </a:solidFill>
                <a:latin typeface="Aptos"/>
              </a:rPr>
            </a:br>
            <a:r>
              <a:rPr lang="en-US" sz="1900" dirty="0">
                <a:solidFill>
                  <a:srgbClr val="FFFFFF"/>
                </a:solidFill>
                <a:latin typeface="Aptos"/>
              </a:rPr>
              <a:t>Prompts</a:t>
            </a:r>
          </a:p>
        </p:txBody>
      </p:sp>
      <p:sp>
        <p:nvSpPr>
          <p:cNvPr id="8" name="Chevron 8"/>
          <p:cNvSpPr/>
          <p:nvPr/>
        </p:nvSpPr>
        <p:spPr>
          <a:xfrm>
            <a:off x="4810481" y="1787426"/>
            <a:ext cx="2057400" cy="677108"/>
          </a:xfrm>
          <a:prstGeom prst="chevron">
            <a:avLst/>
          </a:prstGeom>
          <a:solidFill>
            <a:srgbClr val="7C3AED"/>
          </a:solidFill>
          <a:ln w="12000">
            <a:solidFill>
              <a:srgbClr val="FFFFFF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  <a:latin typeface="Aptos"/>
              </a:rPr>
              <a:t>Judge Prompts</a:t>
            </a:r>
          </a:p>
        </p:txBody>
      </p:sp>
      <p:sp>
        <p:nvSpPr>
          <p:cNvPr id="9" name="Chevron 9"/>
          <p:cNvSpPr/>
          <p:nvPr/>
        </p:nvSpPr>
        <p:spPr>
          <a:xfrm>
            <a:off x="6999706" y="1787426"/>
            <a:ext cx="2057400" cy="677108"/>
          </a:xfrm>
          <a:prstGeom prst="chevron">
            <a:avLst/>
          </a:prstGeom>
          <a:solidFill>
            <a:srgbClr val="EA580C"/>
          </a:solidFill>
          <a:ln w="12000">
            <a:solidFill>
              <a:srgbClr val="FFFFFF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  <a:latin typeface="Aptos"/>
              </a:rPr>
              <a:t>Candidate Configs</a:t>
            </a:r>
          </a:p>
        </p:txBody>
      </p:sp>
      <p:sp>
        <p:nvSpPr>
          <p:cNvPr id="10" name="Shape 10"/>
          <p:cNvSpPr/>
          <p:nvPr/>
        </p:nvSpPr>
        <p:spPr>
          <a:xfrm>
            <a:off x="914400" y="3063240"/>
            <a:ext cx="10149840" cy="224028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914400" y="3063240"/>
            <a:ext cx="73152" cy="2240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170432" y="3246120"/>
            <a:ext cx="97383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111827"/>
                </a:solidFill>
                <a:latin typeface="Aptos"/>
              </a:rPr>
              <a:t>Outputs of this phase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7008" y="3657600"/>
            <a:ext cx="9646919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A validated project definition that names dataset, baseline, candidates, prompt versions, evaluators, and human review policy.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Stable prompt and parameter identities for reproducible baseline and candidate comparisons.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No Langfuse mutation is required yet; this phase can be reviewed locally.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ptos"/>
              </a:rPr>
              <a:t>Evaluator Harness | Langfuse-first offline evaluation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000" dirty="0">
                <a:solidFill>
                  <a:srgbClr val="111827"/>
                </a:solidFill>
                <a:latin typeface="Aptos"/>
              </a:rPr>
              <a:t>Phase 2: Setup Langfuse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475569"/>
                </a:solidFill>
                <a:latin typeface="Aptos"/>
              </a:rPr>
              <a:t>Use dry-run first, then apply managed assets</a:t>
            </a:r>
          </a:p>
        </p:txBody>
      </p:sp>
      <p:sp>
        <p:nvSpPr>
          <p:cNvPr id="4" name="Title Rule"/>
          <p:cNvSpPr/>
          <p:nvPr/>
        </p:nvSpPr>
        <p:spPr>
          <a:xfrm>
            <a:off x="502920" y="1143000"/>
            <a:ext cx="950976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731520" y="1600200"/>
            <a:ext cx="2926080" cy="914400"/>
          </a:xfrm>
          <a:prstGeom prst="roundRect">
            <a:avLst/>
          </a:prstGeom>
          <a:solidFill>
            <a:srgbClr val="F8FAFC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2000" dirty="0">
                <a:solidFill>
                  <a:srgbClr val="111827"/>
                </a:solidFill>
                <a:latin typeface="Aptos"/>
              </a:rPr>
              <a:t>sync-all --dry-run</a:t>
            </a:r>
          </a:p>
        </p:txBody>
      </p:sp>
      <p:sp>
        <p:nvSpPr>
          <p:cNvPr id="6" name="Shape 6"/>
          <p:cNvSpPr/>
          <p:nvPr/>
        </p:nvSpPr>
        <p:spPr>
          <a:xfrm>
            <a:off x="4251960" y="1600200"/>
            <a:ext cx="2926080" cy="914400"/>
          </a:xfrm>
          <a:prstGeom prst="roundRect">
            <a:avLst/>
          </a:prstGeom>
          <a:solidFill>
            <a:srgbClr val="FEF3C7"/>
          </a:solidFill>
          <a:ln w="18000">
            <a:solidFill>
              <a:srgbClr val="FCD34D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2000" dirty="0">
                <a:solidFill>
                  <a:srgbClr val="78350F"/>
                </a:solidFill>
                <a:latin typeface="Aptos"/>
              </a:rPr>
              <a:t>Review Plan</a:t>
            </a:r>
          </a:p>
        </p:txBody>
      </p:sp>
      <p:sp>
        <p:nvSpPr>
          <p:cNvPr id="7" name="Shape 7"/>
          <p:cNvSpPr/>
          <p:nvPr/>
        </p:nvSpPr>
        <p:spPr>
          <a:xfrm>
            <a:off x="7772400" y="1600200"/>
            <a:ext cx="2926080" cy="914400"/>
          </a:xfrm>
          <a:prstGeom prst="roundRect">
            <a:avLst/>
          </a:prstGeom>
          <a:solidFill>
            <a:srgbClr val="ECFDF5"/>
          </a:solidFill>
          <a:ln w="18000">
            <a:solidFill>
              <a:srgbClr val="86EFAC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2000" dirty="0">
                <a:solidFill>
                  <a:srgbClr val="14532D"/>
                </a:solidFill>
                <a:latin typeface="Aptos"/>
              </a:rPr>
              <a:t>sync-all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3685032" y="2057400"/>
            <a:ext cx="539495" cy="0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cxnSp>
        <p:nvCxnSpPr>
          <p:cNvPr id="9" name="Arrow 9"/>
          <p:cNvCxnSpPr/>
          <p:nvPr/>
        </p:nvCxnSpPr>
        <p:spPr>
          <a:xfrm>
            <a:off x="7205472" y="2057400"/>
            <a:ext cx="539496" cy="0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sp>
        <p:nvSpPr>
          <p:cNvPr id="10" name="Shape 10"/>
          <p:cNvSpPr/>
          <p:nvPr/>
        </p:nvSpPr>
        <p:spPr>
          <a:xfrm>
            <a:off x="868680" y="3429000"/>
            <a:ext cx="1874519" cy="68580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ptos"/>
              </a:rPr>
              <a:t>Dataset</a:t>
            </a:r>
          </a:p>
        </p:txBody>
      </p:sp>
      <p:sp>
        <p:nvSpPr>
          <p:cNvPr id="11" name="Shape 11"/>
          <p:cNvSpPr/>
          <p:nvPr/>
        </p:nvSpPr>
        <p:spPr>
          <a:xfrm>
            <a:off x="3108960" y="3429000"/>
            <a:ext cx="1874519" cy="68580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ptos"/>
              </a:rPr>
              <a:t>Prompts</a:t>
            </a:r>
          </a:p>
        </p:txBody>
      </p:sp>
      <p:sp>
        <p:nvSpPr>
          <p:cNvPr id="12" name="Shape 12"/>
          <p:cNvSpPr/>
          <p:nvPr/>
        </p:nvSpPr>
        <p:spPr>
          <a:xfrm>
            <a:off x="5349240" y="3429000"/>
            <a:ext cx="1874519" cy="68580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ptos"/>
              </a:rPr>
              <a:t>Score Configs</a:t>
            </a:r>
          </a:p>
        </p:txBody>
      </p:sp>
      <p:sp>
        <p:nvSpPr>
          <p:cNvPr id="13" name="Shape 13"/>
          <p:cNvSpPr/>
          <p:nvPr/>
        </p:nvSpPr>
        <p:spPr>
          <a:xfrm>
            <a:off x="7589520" y="3429000"/>
            <a:ext cx="1874519" cy="68580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ptos"/>
              </a:rPr>
              <a:t>LLM Judges</a:t>
            </a:r>
          </a:p>
        </p:txBody>
      </p:sp>
      <p:sp>
        <p:nvSpPr>
          <p:cNvPr id="14" name="Shape 14"/>
          <p:cNvSpPr/>
          <p:nvPr/>
        </p:nvSpPr>
        <p:spPr>
          <a:xfrm>
            <a:off x="9829800" y="3429000"/>
            <a:ext cx="1874519" cy="68580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1700" dirty="0">
                <a:solidFill>
                  <a:srgbClr val="334155"/>
                </a:solidFill>
                <a:latin typeface="Aptos"/>
              </a:rPr>
              <a:t>Annotation Queue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" y="4709160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334155"/>
                </a:solidFill>
                <a:latin typeface="Aptos"/>
              </a:rPr>
              <a:t>Setup is repeatable: compatible assets are reused, managed assets are updated only through controlled commands, and local binding references support provenance.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ptos"/>
              </a:rPr>
              <a:t>Evaluator Harness | Langfuse-first offline evaluation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000" dirty="0">
                <a:solidFill>
                  <a:srgbClr val="111827"/>
                </a:solidFill>
                <a:latin typeface="Aptos"/>
              </a:rPr>
              <a:t>Phase 3: Run Experiments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475569"/>
                </a:solidFill>
                <a:latin typeface="Aptos"/>
              </a:rPr>
              <a:t>Generate baseline and candidate traces, then evaluate and review</a:t>
            </a:r>
          </a:p>
        </p:txBody>
      </p:sp>
      <p:sp>
        <p:nvSpPr>
          <p:cNvPr id="4" name="Title Rule"/>
          <p:cNvSpPr/>
          <p:nvPr/>
        </p:nvSpPr>
        <p:spPr>
          <a:xfrm>
            <a:off x="502920" y="1143000"/>
            <a:ext cx="950976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99B4059-F6F6-3248-3865-0D976EAA1FF7}"/>
              </a:ext>
            </a:extLst>
          </p:cNvPr>
          <p:cNvGrpSpPr/>
          <p:nvPr/>
        </p:nvGrpSpPr>
        <p:grpSpPr>
          <a:xfrm>
            <a:off x="2679192" y="1328289"/>
            <a:ext cx="2011680" cy="1463040"/>
            <a:chOff x="2679192" y="1328289"/>
            <a:chExt cx="2011680" cy="1463040"/>
          </a:xfrm>
        </p:grpSpPr>
        <p:sp>
          <p:nvSpPr>
            <p:cNvPr id="5" name="Shape 5"/>
            <p:cNvSpPr/>
            <p:nvPr/>
          </p:nvSpPr>
          <p:spPr>
            <a:xfrm>
              <a:off x="2679192" y="1328289"/>
              <a:ext cx="2011680" cy="1463040"/>
            </a:xfrm>
            <a:prstGeom prst="roundRect">
              <a:avLst/>
            </a:prstGeom>
            <a:solidFill>
              <a:srgbClr val="FFFFFF"/>
            </a:solidFill>
            <a:ln w="18000">
              <a:solidFill>
                <a:srgbClr val="CBD5E1"/>
              </a:solidFill>
            </a:ln>
          </p:spPr>
          <p:txBody>
            <a:bodyPr wrap="square" anchor="t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843784" y="1355721"/>
              <a:ext cx="1691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2000" dirty="0">
                  <a:solidFill>
                    <a:srgbClr val="2563EB"/>
                  </a:solidFill>
                  <a:latin typeface="Aptos"/>
                </a:rPr>
                <a:t>Baseline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43784" y="1630041"/>
              <a:ext cx="1691640" cy="530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1600" dirty="0">
                  <a:solidFill>
                    <a:srgbClr val="475569"/>
                  </a:solidFill>
                  <a:latin typeface="Aptos"/>
                </a:rPr>
                <a:t>Run reference model and prompt version</a:t>
              </a:r>
            </a:p>
          </p:txBody>
        </p:sp>
      </p:grpSp>
      <p:cxnSp>
        <p:nvCxnSpPr>
          <p:cNvPr id="8" name="Arrow 8"/>
          <p:cNvCxnSpPr/>
          <p:nvPr/>
        </p:nvCxnSpPr>
        <p:spPr>
          <a:xfrm>
            <a:off x="4709160" y="2059809"/>
            <a:ext cx="274319" cy="0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931EBD8-E912-5A75-6BBA-23320451A3A1}"/>
              </a:ext>
            </a:extLst>
          </p:cNvPr>
          <p:cNvGrpSpPr/>
          <p:nvPr/>
        </p:nvGrpSpPr>
        <p:grpSpPr>
          <a:xfrm>
            <a:off x="5010911" y="1328289"/>
            <a:ext cx="2011680" cy="1463040"/>
            <a:chOff x="5010911" y="1328289"/>
            <a:chExt cx="2011680" cy="1463040"/>
          </a:xfrm>
        </p:grpSpPr>
        <p:sp>
          <p:nvSpPr>
            <p:cNvPr id="9" name="Shape 9"/>
            <p:cNvSpPr/>
            <p:nvPr/>
          </p:nvSpPr>
          <p:spPr>
            <a:xfrm>
              <a:off x="5010911" y="1328289"/>
              <a:ext cx="2011680" cy="1463040"/>
            </a:xfrm>
            <a:prstGeom prst="roundRect">
              <a:avLst/>
            </a:prstGeom>
            <a:solidFill>
              <a:srgbClr val="FFFFFF"/>
            </a:solidFill>
            <a:ln w="18000">
              <a:solidFill>
                <a:srgbClr val="CBD5E1"/>
              </a:solidFill>
            </a:ln>
          </p:spPr>
          <p:txBody>
            <a:bodyPr wrap="square" anchor="t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75504" y="1355721"/>
              <a:ext cx="1691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F766E"/>
                  </a:solidFill>
                  <a:latin typeface="Aptos"/>
                </a:rPr>
                <a:t>Candidate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75504" y="1630041"/>
              <a:ext cx="1691640" cy="530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1600" dirty="0">
                  <a:solidFill>
                    <a:srgbClr val="475569"/>
                  </a:solidFill>
                  <a:latin typeface="Aptos"/>
                </a:rPr>
                <a:t>Run model, prompt, parameter, or mixed variant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A198CB9-0B8F-3132-31C4-7EF47DECD335}"/>
              </a:ext>
            </a:extLst>
          </p:cNvPr>
          <p:cNvGrpSpPr/>
          <p:nvPr/>
        </p:nvGrpSpPr>
        <p:grpSpPr>
          <a:xfrm>
            <a:off x="2679192" y="3067812"/>
            <a:ext cx="2011680" cy="1463040"/>
            <a:chOff x="2679192" y="3067812"/>
            <a:chExt cx="2011680" cy="1463040"/>
          </a:xfrm>
        </p:grpSpPr>
        <p:sp>
          <p:nvSpPr>
            <p:cNvPr id="13" name="Shape 13"/>
            <p:cNvSpPr/>
            <p:nvPr/>
          </p:nvSpPr>
          <p:spPr>
            <a:xfrm>
              <a:off x="2679192" y="3067812"/>
              <a:ext cx="2011680" cy="1463040"/>
            </a:xfrm>
            <a:prstGeom prst="roundRect">
              <a:avLst/>
            </a:prstGeom>
            <a:solidFill>
              <a:srgbClr val="FFFFFF"/>
            </a:solidFill>
            <a:ln w="18000">
              <a:solidFill>
                <a:srgbClr val="CBD5E1"/>
              </a:solidFill>
            </a:ln>
          </p:spPr>
          <p:txBody>
            <a:bodyPr wrap="square" anchor="t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43784" y="3095244"/>
              <a:ext cx="1691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2000" dirty="0">
                  <a:solidFill>
                    <a:srgbClr val="16A34A"/>
                  </a:solidFill>
                  <a:latin typeface="Aptos"/>
                </a:rPr>
                <a:t>Trace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43784" y="3369564"/>
              <a:ext cx="1691640" cy="530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1600" dirty="0">
                  <a:solidFill>
                    <a:srgbClr val="475569"/>
                  </a:solidFill>
                  <a:latin typeface="Aptos"/>
                </a:rPr>
                <a:t>Capture item input, output, metadata, and observation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962B924-794C-CF92-F62F-511FD9DE5360}"/>
              </a:ext>
            </a:extLst>
          </p:cNvPr>
          <p:cNvGrpSpPr/>
          <p:nvPr/>
        </p:nvGrpSpPr>
        <p:grpSpPr>
          <a:xfrm>
            <a:off x="5010912" y="3035808"/>
            <a:ext cx="2011680" cy="1463040"/>
            <a:chOff x="5010912" y="3067812"/>
            <a:chExt cx="2011680" cy="1463040"/>
          </a:xfrm>
        </p:grpSpPr>
        <p:sp>
          <p:nvSpPr>
            <p:cNvPr id="17" name="Shape 17"/>
            <p:cNvSpPr/>
            <p:nvPr/>
          </p:nvSpPr>
          <p:spPr>
            <a:xfrm>
              <a:off x="5010912" y="3067812"/>
              <a:ext cx="2011680" cy="1463040"/>
            </a:xfrm>
            <a:prstGeom prst="roundRect">
              <a:avLst/>
            </a:prstGeom>
            <a:solidFill>
              <a:srgbClr val="FFFFFF"/>
            </a:solidFill>
            <a:ln w="18000">
              <a:solidFill>
                <a:srgbClr val="CBD5E1"/>
              </a:solidFill>
            </a:ln>
          </p:spPr>
          <p:txBody>
            <a:bodyPr wrap="square" anchor="t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75504" y="3095244"/>
              <a:ext cx="1691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2000" dirty="0">
                  <a:solidFill>
                    <a:srgbClr val="7C3AED"/>
                  </a:solidFill>
                  <a:latin typeface="Aptos"/>
                </a:rPr>
                <a:t>Evaluate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75504" y="3369564"/>
              <a:ext cx="1691640" cy="530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1600" dirty="0">
                  <a:solidFill>
                    <a:srgbClr val="475569"/>
                  </a:solidFill>
                  <a:latin typeface="Aptos"/>
                </a:rPr>
                <a:t>LLM-as-judge emits scores in Langfuse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860B0B0-3187-DECF-2694-D4E2B97AA80B}"/>
              </a:ext>
            </a:extLst>
          </p:cNvPr>
          <p:cNvGrpSpPr/>
          <p:nvPr/>
        </p:nvGrpSpPr>
        <p:grpSpPr>
          <a:xfrm>
            <a:off x="7713085" y="3035808"/>
            <a:ext cx="2011680" cy="1463040"/>
            <a:chOff x="7713085" y="3035808"/>
            <a:chExt cx="2011680" cy="1463040"/>
          </a:xfrm>
        </p:grpSpPr>
        <p:sp>
          <p:nvSpPr>
            <p:cNvPr id="21" name="Shape 21"/>
            <p:cNvSpPr/>
            <p:nvPr/>
          </p:nvSpPr>
          <p:spPr>
            <a:xfrm>
              <a:off x="7713085" y="3035808"/>
              <a:ext cx="2011680" cy="1463040"/>
            </a:xfrm>
            <a:prstGeom prst="roundRect">
              <a:avLst/>
            </a:prstGeom>
            <a:solidFill>
              <a:srgbClr val="FFFFFF"/>
            </a:solidFill>
            <a:ln w="18000">
              <a:solidFill>
                <a:srgbClr val="CBD5E1"/>
              </a:solidFill>
            </a:ln>
          </p:spPr>
          <p:txBody>
            <a:bodyPr wrap="square" anchor="t">
              <a:spAutoFit/>
            </a:bodyPr>
            <a:lstStyle/>
            <a:p>
              <a:pPr algn="ctr"/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77677" y="3063240"/>
              <a:ext cx="1691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2000" dirty="0">
                  <a:solidFill>
                    <a:srgbClr val="EA580C"/>
                  </a:solidFill>
                  <a:latin typeface="Aptos"/>
                </a:rPr>
                <a:t>Review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77677" y="3337560"/>
              <a:ext cx="1691640" cy="530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1600" dirty="0">
                  <a:solidFill>
                    <a:srgbClr val="475569"/>
                  </a:solidFill>
                  <a:latin typeface="Aptos"/>
                </a:rPr>
                <a:t>Selected items route to human annotation queue</a:t>
              </a:r>
            </a:p>
          </p:txBody>
        </p:sp>
      </p:grpSp>
      <p:sp>
        <p:nvSpPr>
          <p:cNvPr id="24" name="Shape 24"/>
          <p:cNvSpPr/>
          <p:nvPr/>
        </p:nvSpPr>
        <p:spPr>
          <a:xfrm>
            <a:off x="875071" y="4590288"/>
            <a:ext cx="10058400" cy="164592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25" name="Shape 25"/>
          <p:cNvSpPr/>
          <p:nvPr/>
        </p:nvSpPr>
        <p:spPr>
          <a:xfrm>
            <a:off x="875071" y="4590288"/>
            <a:ext cx="73152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117387" y="4636008"/>
            <a:ext cx="9646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111827"/>
                </a:solidFill>
                <a:latin typeface="Aptos"/>
              </a:rPr>
              <a:t>Comparison signals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53963" y="5047488"/>
            <a:ext cx="955548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Trace metadata links score outcomes back to run IDs, item IDs, model configs, prompt identities, and parameter identities.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Automated scores use source EVAL; human scores use source ANNOTATION for side-by-side analysis.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ptos"/>
              </a:rPr>
              <a:t>Evaluator Harness | Langfuse-first offline evaluation workflow</a:t>
            </a:r>
          </a:p>
        </p:txBody>
      </p:sp>
      <p:cxnSp>
        <p:nvCxnSpPr>
          <p:cNvPr id="29" name="Arrow 8">
            <a:extLst>
              <a:ext uri="{FF2B5EF4-FFF2-40B4-BE49-F238E27FC236}">
                <a16:creationId xmlns:a16="http://schemas.microsoft.com/office/drawing/2014/main" id="{5719C679-4566-5847-8A98-DB632A8354C5}"/>
              </a:ext>
            </a:extLst>
          </p:cNvPr>
          <p:cNvCxnSpPr>
            <a:cxnSpLocks/>
          </p:cNvCxnSpPr>
          <p:nvPr/>
        </p:nvCxnSpPr>
        <p:spPr>
          <a:xfrm>
            <a:off x="3805084" y="2804603"/>
            <a:ext cx="0" cy="263209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cxnSp>
        <p:nvCxnSpPr>
          <p:cNvPr id="32" name="Arrow 8">
            <a:extLst>
              <a:ext uri="{FF2B5EF4-FFF2-40B4-BE49-F238E27FC236}">
                <a16:creationId xmlns:a16="http://schemas.microsoft.com/office/drawing/2014/main" id="{9114B5FD-D192-14FC-EEAD-D5386C42D027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3990213" y="2804603"/>
            <a:ext cx="2026539" cy="231205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cxnSp>
        <p:nvCxnSpPr>
          <p:cNvPr id="35" name="Arrow 8">
            <a:extLst>
              <a:ext uri="{FF2B5EF4-FFF2-40B4-BE49-F238E27FC236}">
                <a16:creationId xmlns:a16="http://schemas.microsoft.com/office/drawing/2014/main" id="{4F29251B-9EED-FD28-4008-D9D2812E3481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>
            <a:off x="6016751" y="2791329"/>
            <a:ext cx="1" cy="244479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cxnSp>
        <p:nvCxnSpPr>
          <p:cNvPr id="38" name="Arrow 8">
            <a:extLst>
              <a:ext uri="{FF2B5EF4-FFF2-40B4-BE49-F238E27FC236}">
                <a16:creationId xmlns:a16="http://schemas.microsoft.com/office/drawing/2014/main" id="{7205FCAA-6349-46F0-8FC0-8218B8C28E57}"/>
              </a:ext>
            </a:extLst>
          </p:cNvPr>
          <p:cNvCxnSpPr>
            <a:cxnSpLocks/>
          </p:cNvCxnSpPr>
          <p:nvPr/>
        </p:nvCxnSpPr>
        <p:spPr>
          <a:xfrm flipH="1">
            <a:off x="3805084" y="2818761"/>
            <a:ext cx="1971638" cy="249051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cxnSp>
        <p:nvCxnSpPr>
          <p:cNvPr id="43" name="Arrow 8">
            <a:extLst>
              <a:ext uri="{FF2B5EF4-FFF2-40B4-BE49-F238E27FC236}">
                <a16:creationId xmlns:a16="http://schemas.microsoft.com/office/drawing/2014/main" id="{13C86B88-94C0-D23D-7EFB-3DCD695DBD18}"/>
              </a:ext>
            </a:extLst>
          </p:cNvPr>
          <p:cNvCxnSpPr>
            <a:cxnSpLocks/>
            <a:stCxn id="21" idx="1"/>
            <a:endCxn id="17" idx="3"/>
          </p:cNvCxnSpPr>
          <p:nvPr/>
        </p:nvCxnSpPr>
        <p:spPr>
          <a:xfrm flipH="1">
            <a:off x="7022592" y="3767328"/>
            <a:ext cx="690493" cy="0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000" dirty="0">
                <a:solidFill>
                  <a:srgbClr val="111827"/>
                </a:solidFill>
                <a:latin typeface="Aptos"/>
              </a:rPr>
              <a:t>End-To-End Workflow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475569"/>
                </a:solidFill>
                <a:latin typeface="Aptos"/>
              </a:rPr>
              <a:t>From local artifacts to score comparison</a:t>
            </a:r>
          </a:p>
        </p:txBody>
      </p:sp>
      <p:sp>
        <p:nvSpPr>
          <p:cNvPr id="4" name="Title Rule"/>
          <p:cNvSpPr/>
          <p:nvPr/>
        </p:nvSpPr>
        <p:spPr>
          <a:xfrm>
            <a:off x="502920" y="1143000"/>
            <a:ext cx="950976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685800" y="1508760"/>
            <a:ext cx="2423160" cy="3566160"/>
          </a:xfrm>
          <a:prstGeom prst="roundRect">
            <a:avLst/>
          </a:prstGeom>
          <a:solidFill>
            <a:srgbClr val="DBEAFE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868680" y="17830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2000" dirty="0">
                <a:solidFill>
                  <a:srgbClr val="1E3A8A"/>
                </a:solidFill>
                <a:latin typeface="Aptos"/>
              </a:rPr>
              <a:t>Local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1832" y="2423160"/>
            <a:ext cx="1920240" cy="2148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YAML config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CSV dataset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Prompt files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3127248" y="3246120"/>
            <a:ext cx="347471" cy="0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sp>
        <p:nvSpPr>
          <p:cNvPr id="9" name="Shape 9"/>
          <p:cNvSpPr/>
          <p:nvPr/>
        </p:nvSpPr>
        <p:spPr>
          <a:xfrm>
            <a:off x="3520440" y="1508760"/>
            <a:ext cx="2423160" cy="3566160"/>
          </a:xfrm>
          <a:prstGeom prst="roundRect">
            <a:avLst/>
          </a:prstGeom>
          <a:solidFill>
            <a:srgbClr val="F8FAFC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3703320" y="17830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2000" dirty="0">
                <a:solidFill>
                  <a:srgbClr val="111827"/>
                </a:solidFill>
                <a:latin typeface="Aptos"/>
              </a:rPr>
              <a:t>Harness CLI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76472" y="2423160"/>
            <a:ext cx="1920240" cy="2148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validate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sync-all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run baseline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run candidate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5961888" y="3246120"/>
            <a:ext cx="347472" cy="0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sp>
        <p:nvSpPr>
          <p:cNvPr id="13" name="Shape 13"/>
          <p:cNvSpPr/>
          <p:nvPr/>
        </p:nvSpPr>
        <p:spPr>
          <a:xfrm>
            <a:off x="6355080" y="1508760"/>
            <a:ext cx="2423160" cy="3566160"/>
          </a:xfrm>
          <a:prstGeom prst="roundRect">
            <a:avLst/>
          </a:prstGeom>
          <a:solidFill>
            <a:srgbClr val="CCFBF1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6537960" y="17830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2000" dirty="0">
                <a:solidFill>
                  <a:srgbClr val="134E4A"/>
                </a:solidFill>
                <a:latin typeface="Aptos"/>
              </a:rPr>
              <a:t>Langfuse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11112" y="2423160"/>
            <a:ext cx="1920240" cy="2148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prompts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traces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evaluators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scores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queues</a:t>
            </a:r>
          </a:p>
        </p:txBody>
      </p:sp>
      <p:cxnSp>
        <p:nvCxnSpPr>
          <p:cNvPr id="16" name="Arrow 16"/>
          <p:cNvCxnSpPr/>
          <p:nvPr/>
        </p:nvCxnSpPr>
        <p:spPr>
          <a:xfrm>
            <a:off x="8796528" y="3246120"/>
            <a:ext cx="347471" cy="0"/>
          </a:xfrm>
          <a:prstGeom prst="line">
            <a:avLst/>
          </a:prstGeom>
          <a:ln w="22000">
            <a:solidFill>
              <a:srgbClr val="64748B"/>
            </a:solidFill>
            <a:headEnd type="triangle"/>
          </a:ln>
        </p:spPr>
      </p:cxnSp>
      <p:sp>
        <p:nvSpPr>
          <p:cNvPr id="17" name="Shape 17"/>
          <p:cNvSpPr/>
          <p:nvPr/>
        </p:nvSpPr>
        <p:spPr>
          <a:xfrm>
            <a:off x="9189720" y="1508760"/>
            <a:ext cx="2423160" cy="3566160"/>
          </a:xfrm>
          <a:prstGeom prst="roundRect">
            <a:avLst/>
          </a:prstGeom>
          <a:solidFill>
            <a:srgbClr val="FEF3C7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9372600" y="17830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sz="2000" dirty="0">
                <a:solidFill>
                  <a:srgbClr val="78350F"/>
                </a:solidFill>
                <a:latin typeface="Aptos"/>
              </a:rPr>
              <a:t>Decision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45752" y="2423160"/>
            <a:ext cx="1920240" cy="2148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compare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inspect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calibrate</a:t>
            </a:r>
          </a:p>
          <a:p>
            <a:pPr algn="l"/>
            <a:r>
              <a:rPr lang="en-US" sz="1700" dirty="0">
                <a:solidFill>
                  <a:srgbClr val="334155"/>
                </a:solidFill>
                <a:latin typeface="Aptos"/>
              </a:rPr>
              <a:t>- iterate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ptos"/>
              </a:rPr>
              <a:t>Evaluator Harness | Langfuse-first offline evaluation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3000" dirty="0">
                <a:solidFill>
                  <a:srgbClr val="111827"/>
                </a:solidFill>
                <a:latin typeface="Aptos"/>
              </a:rPr>
              <a:t>Demo At The End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9509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700" dirty="0">
                <a:solidFill>
                  <a:srgbClr val="475569"/>
                </a:solidFill>
                <a:latin typeface="Aptos"/>
              </a:rPr>
              <a:t>Show the feedback loop in Langfuse</a:t>
            </a:r>
          </a:p>
        </p:txBody>
      </p:sp>
      <p:sp>
        <p:nvSpPr>
          <p:cNvPr id="4" name="Title Rule"/>
          <p:cNvSpPr/>
          <p:nvPr/>
        </p:nvSpPr>
        <p:spPr>
          <a:xfrm>
            <a:off x="502920" y="1143000"/>
            <a:ext cx="950976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914400" y="1417320"/>
            <a:ext cx="10058400" cy="96012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914400" y="1417320"/>
            <a:ext cx="128016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234440" y="160020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100" dirty="0">
                <a:solidFill>
                  <a:srgbClr val="111827"/>
                </a:solidFill>
                <a:latin typeface="Aptos"/>
              </a:rPr>
              <a:t>1. LLM-as-Judge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40480" y="1600200"/>
            <a:ext cx="67665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334155"/>
                </a:solidFill>
                <a:latin typeface="Aptos"/>
              </a:rPr>
              <a:t>Open evaluator setup and show automated scores landing on traces.</a:t>
            </a:r>
          </a:p>
        </p:txBody>
      </p:sp>
      <p:sp>
        <p:nvSpPr>
          <p:cNvPr id="9" name="Shape 9"/>
          <p:cNvSpPr/>
          <p:nvPr/>
        </p:nvSpPr>
        <p:spPr>
          <a:xfrm>
            <a:off x="914400" y="2834640"/>
            <a:ext cx="10058400" cy="96012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4400" y="2834640"/>
            <a:ext cx="128016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234440" y="301752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100" dirty="0">
                <a:solidFill>
                  <a:srgbClr val="111827"/>
                </a:solidFill>
                <a:latin typeface="Aptos"/>
              </a:rPr>
              <a:t>2. Human Queue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40480" y="3017520"/>
            <a:ext cx="67665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334155"/>
                </a:solidFill>
                <a:latin typeface="Aptos"/>
              </a:rPr>
              <a:t>Open selected items in the annotation queue and show reviewer scoring.</a:t>
            </a:r>
          </a:p>
        </p:txBody>
      </p:sp>
      <p:sp>
        <p:nvSpPr>
          <p:cNvPr id="13" name="Shape 13"/>
          <p:cNvSpPr/>
          <p:nvPr/>
        </p:nvSpPr>
        <p:spPr>
          <a:xfrm>
            <a:off x="914400" y="4251960"/>
            <a:ext cx="10058400" cy="960120"/>
          </a:xfrm>
          <a:prstGeom prst="roundRect">
            <a:avLst/>
          </a:prstGeom>
          <a:solidFill>
            <a:srgbClr val="FFFFFF"/>
          </a:solidFill>
          <a:ln w="18000">
            <a:solidFill>
              <a:srgbClr val="CBD5E1"/>
            </a:solidFill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4" name="Shape 14"/>
          <p:cNvSpPr/>
          <p:nvPr/>
        </p:nvSpPr>
        <p:spPr>
          <a:xfrm>
            <a:off x="914400" y="4251960"/>
            <a:ext cx="128016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234440" y="4434840"/>
            <a:ext cx="2560320" cy="41549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100" dirty="0">
                <a:solidFill>
                  <a:srgbClr val="111827"/>
                </a:solidFill>
                <a:latin typeface="Aptos"/>
              </a:rPr>
              <a:t>3. Experiments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40480" y="4434840"/>
            <a:ext cx="6766560" cy="646331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334155"/>
                </a:solidFill>
                <a:latin typeface="Aptos"/>
              </a:rPr>
              <a:t>Review the experiments / runs, linking traces and scores with dataset rows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" y="5532120"/>
            <a:ext cx="95097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800" dirty="0">
                <a:solidFill>
                  <a:srgbClr val="475569"/>
                </a:solidFill>
                <a:latin typeface="Aptos"/>
              </a:rPr>
              <a:t>Narrative: the harness creates repeatable experiment data; Langfuse makes the outputs inspectable, judgeable, reviewable, and comparable.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Aptos"/>
              </a:rPr>
              <a:t>Evaluator Harness | Langfuse-first offline evaluation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898</Words>
  <Application>Microsoft Office PowerPoint</Application>
  <PresentationFormat>Widescreen</PresentationFormat>
  <Paragraphs>148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Caldas, Marcelo (CDC/NCEZID/OD) (CTR)</cp:lastModifiedBy>
  <cp:revision>3</cp:revision>
  <dcterms:modified xsi:type="dcterms:W3CDTF">2026-06-04T14:25:52Z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b94a7b8-f06c-4dfe-bdcc-9b548fd58c31_Enabled">
    <vt:lpwstr>true</vt:lpwstr>
  </property>
  <property fmtid="{D5CDD505-2E9C-101B-9397-08002B2CF9AE}" pid="3" name="MSIP_Label_7b94a7b8-f06c-4dfe-bdcc-9b548fd58c31_SetDate">
    <vt:lpwstr>2026-06-04T13:52:13Z</vt:lpwstr>
  </property>
  <property fmtid="{D5CDD505-2E9C-101B-9397-08002B2CF9AE}" pid="4" name="MSIP_Label_7b94a7b8-f06c-4dfe-bdcc-9b548fd58c31_Method">
    <vt:lpwstr>Privileged</vt:lpwstr>
  </property>
  <property fmtid="{D5CDD505-2E9C-101B-9397-08002B2CF9AE}" pid="5" name="MSIP_Label_7b94a7b8-f06c-4dfe-bdcc-9b548fd58c31_Name">
    <vt:lpwstr>7b94a7b8-f06c-4dfe-bdcc-9b548fd58c31</vt:lpwstr>
  </property>
  <property fmtid="{D5CDD505-2E9C-101B-9397-08002B2CF9AE}" pid="6" name="MSIP_Label_7b94a7b8-f06c-4dfe-bdcc-9b548fd58c31_SiteId">
    <vt:lpwstr>9ce70869-60db-44fd-abe8-d2767077fc8f</vt:lpwstr>
  </property>
  <property fmtid="{D5CDD505-2E9C-101B-9397-08002B2CF9AE}" pid="7" name="MSIP_Label_7b94a7b8-f06c-4dfe-bdcc-9b548fd58c31_ActionId">
    <vt:lpwstr>82be9c2e-5353-496a-b8d8-d03ef50b23aa</vt:lpwstr>
  </property>
  <property fmtid="{D5CDD505-2E9C-101B-9397-08002B2CF9AE}" pid="8" name="MSIP_Label_7b94a7b8-f06c-4dfe-bdcc-9b548fd58c31_ContentBits">
    <vt:lpwstr>0</vt:lpwstr>
  </property>
  <property fmtid="{D5CDD505-2E9C-101B-9397-08002B2CF9AE}" pid="9" name="MSIP_Label_7b94a7b8-f06c-4dfe-bdcc-9b548fd58c31_Tag">
    <vt:lpwstr>10, 0, 1, 1</vt:lpwstr>
  </property>
</Properties>
</file>