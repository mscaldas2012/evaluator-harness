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Master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3" name="Shape 3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4" name="TextBox 4"/>
          <p:cNvSpPr txBox="1"/>
          <p:nvPr/>
        </p:nvSpPr>
        <p:spPr>
          <a:xfrm>
            <a:off x="777240" y="1143000"/>
            <a:ext cx="9875520" cy="6858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800" dirty="0">
                <a:b/>
                <a:solidFill>
                  <a:srgbClr val="111827"/>
                </a:solidFill>
                <a:latin typeface="Aptos"/>
              </a:rPr>
              <a:t>Evaluator Harness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2960" y="1874519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solidFill>
                  <a:srgbClr val="334155"/>
                </a:solidFill>
                <a:latin typeface="Aptos"/>
              </a:rPr>
              <a:t>A lightweight, headless, Langfuse-first offline evaluation workflow for comparing LLM outputs with reproducible traces, scores, and human review.</a:t>
            </a:r>
          </a:p>
        </p:txBody>
      </p:sp>
      <p:sp>
        <p:nvSpPr>
          <p:cNvPr id="6" name="Shape 6"/>
          <p:cNvSpPr/>
          <p:nvPr/>
        </p:nvSpPr>
        <p:spPr>
          <a:xfrm>
            <a:off x="822960" y="3063240"/>
            <a:ext cx="2926080" cy="685800"/>
          </a:xfrm>
          <a:prstGeom prst="roundRect">
            <a:avLst/>
          </a:prstGeom>
          <a:solidFill>
            <a:srgbClr val="DBEAFE"/>
          </a:solidFill>
          <a:ln w="18000">
            <a:solidFill>
              <a:srgbClr val="93C5FD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E3A8A"/>
                </a:solidFill>
                <a:latin typeface="Aptos"/>
              </a:rPr>
              <a:t>Collect Artifacts</a:t>
            </a:r>
          </a:p>
        </p:txBody>
      </p:sp>
      <p:sp>
        <p:nvSpPr>
          <p:cNvPr id="7" name="Shape 7"/>
          <p:cNvSpPr/>
          <p:nvPr/>
        </p:nvSpPr>
        <p:spPr>
          <a:xfrm>
            <a:off x="4114800" y="3063240"/>
            <a:ext cx="2926080" cy="685800"/>
          </a:xfrm>
          <a:prstGeom prst="roundRect">
            <a:avLst/>
          </a:prstGeom>
          <a:solidFill>
            <a:srgbClr val="CCFBF1"/>
          </a:solidFill>
          <a:ln w="18000">
            <a:solidFill>
              <a:srgbClr val="5EEAD4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34E4A"/>
                </a:solidFill>
                <a:latin typeface="Aptos"/>
              </a:rPr>
              <a:t>Setup Langfuse</a:t>
            </a:r>
          </a:p>
        </p:txBody>
      </p:sp>
      <p:sp>
        <p:nvSpPr>
          <p:cNvPr id="8" name="Shape 8"/>
          <p:cNvSpPr/>
          <p:nvPr/>
        </p:nvSpPr>
        <p:spPr>
          <a:xfrm>
            <a:off x="7406640" y="3063240"/>
            <a:ext cx="2926080" cy="685800"/>
          </a:xfrm>
          <a:prstGeom prst="roundRect">
            <a:avLst/>
          </a:prstGeom>
          <a:solidFill>
            <a:srgbClr val="DCFCE7"/>
          </a:solidFill>
          <a:ln w="18000">
            <a:solidFill>
              <a:srgbClr val="86EFAC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4532D"/>
                </a:solidFill>
                <a:latin typeface="Aptos"/>
              </a:rPr>
              <a:t>Run Experiments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776472" y="3401568"/>
            <a:ext cx="320040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cxnSp>
        <p:nvCxnSpPr>
          <p:cNvPr id="10" name="Arrow 10"/>
          <p:cNvCxnSpPr/>
          <p:nvPr/>
        </p:nvCxnSpPr>
        <p:spPr>
          <a:xfrm>
            <a:off x="7068312" y="3401568"/>
            <a:ext cx="320039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1" name="TextBox 11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475569"/>
                </a:solidFill>
                <a:latin typeface="Aptos"/>
              </a:rPr>
              <a:t>Demo focus: LLM-as-judge, human annotation queue, and score comparison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Harness Objectives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What the app is for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685800" y="1508760"/>
            <a:ext cx="5257800" cy="43434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Shape 6"/>
          <p:cNvSpPr/>
          <p:nvPr/>
        </p:nvSpPr>
        <p:spPr>
          <a:xfrm>
            <a:off x="685800" y="1508760"/>
            <a:ext cx="73152" cy="434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941832" y="1691639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Primary purpose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78408" y="2103120"/>
            <a:ext cx="4754880" cy="361188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Run project datasets against baseline and candidate LLM configurations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Compare variants across model, task prompt, and generation parameters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Record reproducibility metadata so runs can be inspected later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Keep local project files as the source of truth for validation and execution</a:t>
            </a:r>
          </a:p>
        </p:txBody>
      </p:sp>
      <p:sp>
        <p:nvSpPr>
          <p:cNvPr id="9" name="Shape 9"/>
          <p:cNvSpPr/>
          <p:nvPr/>
        </p:nvSpPr>
        <p:spPr>
          <a:xfrm>
            <a:off x="6263640" y="1508760"/>
            <a:ext cx="4892040" cy="43434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0" name="Shape 10"/>
          <p:cNvSpPr/>
          <p:nvPr/>
        </p:nvSpPr>
        <p:spPr>
          <a:xfrm>
            <a:off x="6263640" y="1508760"/>
            <a:ext cx="73152" cy="4343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6519672" y="1691639"/>
            <a:ext cx="4480559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What stays in Langfuse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56248" y="2103120"/>
            <a:ext cx="4389120" cy="361188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Traces and observations for each evaluated item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Prompt visibility for task and evaluator prompts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Evaluator definitions, score configs, scores, dashboards, and comparisons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Human annotation queues for selected outputs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What The Harness Does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A thin local runner around project artifacts and Langfuse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731520" y="1600200"/>
            <a:ext cx="2331720" cy="960120"/>
          </a:xfrm>
          <a:prstGeom prst="roundRect">
            <a:avLst/>
          </a:prstGeom>
          <a:solidFill>
            <a:srgbClr val="EFF6FF"/>
          </a:solidFill>
          <a:ln w="18000">
            <a:solidFill>
              <a:srgbClr val="BFDBFE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1E3A8A"/>
                </a:solidFill>
                <a:latin typeface="Aptos"/>
              </a:rPr>
              <a:t>Project YAML</a:t>
            </a:r>
          </a:p>
          <a:p>
            <a:pPr algn="ctr"/>
            <a:r>
              <a:rPr lang="en-US" sz="1900" dirty="0">
                <a:b/>
                <a:solidFill>
                  <a:srgbClr val="1E3A8A"/>
                </a:solidFill>
                <a:latin typeface="Aptos"/>
              </a:rPr>
              <a:t>Dataset</a:t>
            </a:r>
          </a:p>
          <a:p>
            <a:pPr algn="ctr"/>
            <a:r>
              <a:rPr lang="en-US" sz="1900" dirty="0">
                <a:b/>
                <a:solidFill>
                  <a:srgbClr val="1E3A8A"/>
                </a:solidFill>
                <a:latin typeface="Aptos"/>
              </a:rPr>
              <a:t>Prompts</a:t>
            </a:r>
          </a:p>
        </p:txBody>
      </p:sp>
      <p:sp>
        <p:nvSpPr>
          <p:cNvPr id="6" name="Shape 6"/>
          <p:cNvSpPr/>
          <p:nvPr/>
        </p:nvSpPr>
        <p:spPr>
          <a:xfrm>
            <a:off x="3886200" y="1600200"/>
            <a:ext cx="2331720" cy="960120"/>
          </a:xfrm>
          <a:prstGeom prst="roundRect">
            <a:avLst/>
          </a:prstGeom>
          <a:solidFill>
            <a:srgbClr val="F8FAFC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111827"/>
                </a:solidFill>
                <a:latin typeface="Aptos"/>
              </a:rPr>
              <a:t>Baseline Run</a:t>
            </a:r>
          </a:p>
          <a:p>
            <a:pPr algn="ctr"/>
            <a:r>
              <a:rPr lang="en-US" sz="1900" dirty="0">
                <a:b/>
                <a:solidFill>
                  <a:srgbClr val="111827"/>
                </a:solidFill>
                <a:latin typeface="Aptos"/>
              </a:rPr>
              <a:t>Candidate Run</a:t>
            </a:r>
          </a:p>
        </p:txBody>
      </p:sp>
      <p:sp>
        <p:nvSpPr>
          <p:cNvPr id="7" name="Shape 7"/>
          <p:cNvSpPr/>
          <p:nvPr/>
        </p:nvSpPr>
        <p:spPr>
          <a:xfrm>
            <a:off x="7040880" y="1600200"/>
            <a:ext cx="2331720" cy="960120"/>
          </a:xfrm>
          <a:prstGeom prst="roundRect">
            <a:avLst/>
          </a:prstGeom>
          <a:solidFill>
            <a:srgbClr val="ECFDF5"/>
          </a:solidFill>
          <a:ln w="18000">
            <a:solidFill>
              <a:srgbClr val="A7F3D0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064E3B"/>
                </a:solidFill>
                <a:latin typeface="Aptos"/>
              </a:rPr>
              <a:t>Langfuse</a:t>
            </a:r>
          </a:p>
          <a:p>
            <a:pPr algn="ctr"/>
            <a:r>
              <a:rPr lang="en-US" sz="1900" dirty="0">
                <a:b/>
                <a:solidFill>
                  <a:srgbClr val="064E3B"/>
                </a:solidFill>
                <a:latin typeface="Aptos"/>
              </a:rPr>
              <a:t>Trace Store</a:t>
            </a:r>
          </a:p>
        </p:txBody>
      </p:sp>
      <p:sp>
        <p:nvSpPr>
          <p:cNvPr id="8" name="Shape 8"/>
          <p:cNvSpPr/>
          <p:nvPr/>
        </p:nvSpPr>
        <p:spPr>
          <a:xfrm>
            <a:off x="9601200" y="1600200"/>
            <a:ext cx="2057400" cy="960120"/>
          </a:xfrm>
          <a:prstGeom prst="roundRect">
            <a:avLst/>
          </a:prstGeom>
          <a:solidFill>
            <a:srgbClr val="FFF7ED"/>
          </a:solidFill>
          <a:ln w="18000">
            <a:solidFill>
              <a:srgbClr val="FDBA74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7C2D12"/>
                </a:solidFill>
                <a:latin typeface="Aptos"/>
              </a:rPr>
              <a:t>Scores</a:t>
            </a:r>
          </a:p>
          <a:p>
            <a:pPr algn="ctr"/>
            <a:r>
              <a:rPr lang="en-US" sz="1900" dirty="0">
                <a:b/>
                <a:solidFill>
                  <a:srgbClr val="7C2D12"/>
                </a:solidFill>
                <a:latin typeface="Aptos"/>
              </a:rPr>
              <a:t>Review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090672" y="2057400"/>
            <a:ext cx="768095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cxnSp>
        <p:nvCxnSpPr>
          <p:cNvPr id="10" name="Arrow 10"/>
          <p:cNvCxnSpPr/>
          <p:nvPr/>
        </p:nvCxnSpPr>
        <p:spPr>
          <a:xfrm>
            <a:off x="6245352" y="2057400"/>
            <a:ext cx="768095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cxnSp>
        <p:nvCxnSpPr>
          <p:cNvPr id="11" name="Arrow 11"/>
          <p:cNvCxnSpPr/>
          <p:nvPr/>
        </p:nvCxnSpPr>
        <p:spPr>
          <a:xfrm>
            <a:off x="9400032" y="2057400"/>
            <a:ext cx="173736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2" name="Shape 12"/>
          <p:cNvSpPr/>
          <p:nvPr/>
        </p:nvSpPr>
        <p:spPr>
          <a:xfrm>
            <a:off x="914400" y="3108960"/>
            <a:ext cx="10241280" cy="214884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3" name="Shape 13"/>
          <p:cNvSpPr/>
          <p:nvPr/>
        </p:nvSpPr>
        <p:spPr>
          <a:xfrm>
            <a:off x="914400" y="3108960"/>
            <a:ext cx="73152" cy="2148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1170432" y="3291840"/>
            <a:ext cx="982980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Boundaries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7008" y="3703320"/>
            <a:ext cx="9738359" cy="14173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The harness does not try to become a dashboard, annotation UI, evaluator workbench, or prompt registry.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It prepares and runs repeatable experiments, then sends the operational artifacts to Langfuse.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Setup commands support dry-run first, then apply, so changes can be previewed before mutation.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What Langfuse 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The shared system of record for LLM observability and evaluation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777240" y="1508760"/>
            <a:ext cx="5074920" cy="1417320"/>
          </a:xfrm>
          <a:prstGeom prst="roundRect">
            <a:avLst/>
          </a:prstGeom>
          <a:solidFill>
            <a:srgbClr val="DBEAFE"/>
          </a:solidFill>
          <a:ln w="18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TextBox 6"/>
          <p:cNvSpPr txBox="1"/>
          <p:nvPr/>
        </p:nvSpPr>
        <p:spPr>
          <a:xfrm>
            <a:off x="1051560" y="1709928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E3A8A"/>
                </a:solidFill>
                <a:latin typeface="Aptos"/>
              </a:rPr>
              <a:t>Open Source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51560" y="2130552"/>
            <a:ext cx="4572000" cy="71323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Core platform is open source, so teams can inspect, extend, and self-host when needed.</a:t>
            </a:r>
          </a:p>
        </p:txBody>
      </p:sp>
      <p:sp>
        <p:nvSpPr>
          <p:cNvPr id="8" name="Shape 8"/>
          <p:cNvSpPr/>
          <p:nvPr/>
        </p:nvSpPr>
        <p:spPr>
          <a:xfrm>
            <a:off x="6400800" y="1508760"/>
            <a:ext cx="5074920" cy="1417320"/>
          </a:xfrm>
          <a:prstGeom prst="roundRect">
            <a:avLst/>
          </a:prstGeom>
          <a:solidFill>
            <a:srgbClr val="CCFBF1"/>
          </a:solidFill>
          <a:ln w="18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9" name="TextBox 9"/>
          <p:cNvSpPr txBox="1"/>
          <p:nvPr/>
        </p:nvSpPr>
        <p:spPr>
          <a:xfrm>
            <a:off x="6675120" y="1709928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34E4A"/>
                </a:solidFill>
                <a:latin typeface="Aptos"/>
              </a:rPr>
              <a:t>Cloud Or Self Hosted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675120" y="2130552"/>
            <a:ext cx="4572000" cy="71323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Use managed Langfuse Cloud or operate your own deployment for governance and control.</a:t>
            </a:r>
          </a:p>
        </p:txBody>
      </p:sp>
      <p:sp>
        <p:nvSpPr>
          <p:cNvPr id="11" name="Shape 11"/>
          <p:cNvSpPr/>
          <p:nvPr/>
        </p:nvSpPr>
        <p:spPr>
          <a:xfrm>
            <a:off x="777240" y="3383279"/>
            <a:ext cx="5074920" cy="1417320"/>
          </a:xfrm>
          <a:prstGeom prst="roundRect">
            <a:avLst/>
          </a:prstGeom>
          <a:solidFill>
            <a:srgbClr val="DCFCE7"/>
          </a:solidFill>
          <a:ln w="18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1051560" y="3584448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4532D"/>
                </a:solidFill>
                <a:latin typeface="Aptos"/>
              </a:rPr>
              <a:t>LLM Observability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51560" y="4005072"/>
            <a:ext cx="4572000" cy="71323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Capture traces, generations, metadata, prompts, sessions, and user or evaluator feedback.</a:t>
            </a:r>
          </a:p>
        </p:txBody>
      </p:sp>
      <p:sp>
        <p:nvSpPr>
          <p:cNvPr id="14" name="Shape 14"/>
          <p:cNvSpPr/>
          <p:nvPr/>
        </p:nvSpPr>
        <p:spPr>
          <a:xfrm>
            <a:off x="6400800" y="3383279"/>
            <a:ext cx="5074920" cy="1417320"/>
          </a:xfrm>
          <a:prstGeom prst="roundRect">
            <a:avLst/>
          </a:prstGeom>
          <a:solidFill>
            <a:srgbClr val="FEF3C7"/>
          </a:solidFill>
          <a:ln w="18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5" name="TextBox 15"/>
          <p:cNvSpPr txBox="1"/>
          <p:nvPr/>
        </p:nvSpPr>
        <p:spPr>
          <a:xfrm>
            <a:off x="6675120" y="3584448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78350F"/>
                </a:solidFill>
                <a:latin typeface="Aptos"/>
              </a:rPr>
              <a:t>Evaluation Workflows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675120" y="4005072"/>
            <a:ext cx="4572000" cy="71323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Manage datasets, scores, evaluators, experiments, and human annotation workflows.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Sources: Langfuse documentation and Langfuse GitHub project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Why Use Langfuse Here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Benefits for an evaluation harness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731520" y="1463040"/>
            <a:ext cx="5394960" cy="448056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Shape 6"/>
          <p:cNvSpPr/>
          <p:nvPr/>
        </p:nvSpPr>
        <p:spPr>
          <a:xfrm>
            <a:off x="731520" y="1463040"/>
            <a:ext cx="73152" cy="4480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987552" y="1645920"/>
            <a:ext cx="498348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Operational benefits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4128" y="2057400"/>
            <a:ext cx="4892040" cy="3749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Central place to inspect each item-level trace and model observation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Prompt and evaluator context available beside the outputs being judged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Score configs and score sources make automated and human signals comparable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Dashboards and comparisons stay in a purpose-built evaluation UI</a:t>
            </a:r>
          </a:p>
        </p:txBody>
      </p:sp>
      <p:sp>
        <p:nvSpPr>
          <p:cNvPr id="9" name="Shape 9"/>
          <p:cNvSpPr/>
          <p:nvPr/>
        </p:nvSpPr>
        <p:spPr>
          <a:xfrm>
            <a:off x="6400800" y="1463040"/>
            <a:ext cx="5029200" cy="448056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0" name="Shape 10"/>
          <p:cNvSpPr/>
          <p:nvPr/>
        </p:nvSpPr>
        <p:spPr>
          <a:xfrm>
            <a:off x="6400800" y="1463040"/>
            <a:ext cx="73152" cy="4480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6656832" y="1645920"/>
            <a:ext cx="461772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Engineering benefits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3408" y="2057400"/>
            <a:ext cx="4526280" cy="3749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Cloud option for speed; self-hosted option for control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Open-source foundation reduces vendor lock-in risk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Harness can stay local-first and thin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Dry-run/apply setup supports repeatable project onboarding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Langfuse Artifacts Used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How the harness maps local project concepts into Langfuse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685800" y="1417320"/>
            <a:ext cx="3337560" cy="14173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Shape 6"/>
          <p:cNvSpPr/>
          <p:nvPr/>
        </p:nvSpPr>
        <p:spPr>
          <a:xfrm>
            <a:off x="685800" y="1417320"/>
            <a:ext cx="109728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978408" y="1618488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Prompts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78408" y="2039112"/>
            <a:ext cx="2880360" cy="62179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  <a:latin typeface="Aptos"/>
              </a:rPr>
              <a:t>Task prompts and LLM judge prompts synced as managed versions</a:t>
            </a:r>
          </a:p>
        </p:txBody>
      </p:sp>
      <p:sp>
        <p:nvSpPr>
          <p:cNvPr id="9" name="Shape 9"/>
          <p:cNvSpPr/>
          <p:nvPr/>
        </p:nvSpPr>
        <p:spPr>
          <a:xfrm>
            <a:off x="4480560" y="1417320"/>
            <a:ext cx="3337560" cy="14173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0" name="Shape 10"/>
          <p:cNvSpPr/>
          <p:nvPr/>
        </p:nvSpPr>
        <p:spPr>
          <a:xfrm>
            <a:off x="4480560" y="1417320"/>
            <a:ext cx="109728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4773168" y="1618488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Datasets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773168" y="2039112"/>
            <a:ext cx="2880360" cy="62179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  <a:latin typeface="Aptos"/>
              </a:rPr>
              <a:t>Project rows used for baseline and candidate runs</a:t>
            </a:r>
          </a:p>
        </p:txBody>
      </p:sp>
      <p:sp>
        <p:nvSpPr>
          <p:cNvPr id="13" name="Shape 13"/>
          <p:cNvSpPr/>
          <p:nvPr/>
        </p:nvSpPr>
        <p:spPr>
          <a:xfrm>
            <a:off x="8275320" y="1417320"/>
            <a:ext cx="3337560" cy="14173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4" name="Shape 14"/>
          <p:cNvSpPr/>
          <p:nvPr/>
        </p:nvSpPr>
        <p:spPr>
          <a:xfrm>
            <a:off x="8275320" y="1417320"/>
            <a:ext cx="109728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5" name="TextBox 15"/>
          <p:cNvSpPr txBox="1"/>
          <p:nvPr/>
        </p:nvSpPr>
        <p:spPr>
          <a:xfrm>
            <a:off x="8567928" y="1618488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Traces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567928" y="2039112"/>
            <a:ext cx="2880360" cy="62179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  <a:latin typeface="Aptos"/>
              </a:rPr>
              <a:t>Per-item execution records with metadata and observations</a:t>
            </a:r>
          </a:p>
        </p:txBody>
      </p:sp>
      <p:sp>
        <p:nvSpPr>
          <p:cNvPr id="17" name="Shape 17"/>
          <p:cNvSpPr/>
          <p:nvPr/>
        </p:nvSpPr>
        <p:spPr>
          <a:xfrm>
            <a:off x="685800" y="3291839"/>
            <a:ext cx="3337560" cy="14173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8" name="Shape 18"/>
          <p:cNvSpPr/>
          <p:nvPr/>
        </p:nvSpPr>
        <p:spPr>
          <a:xfrm>
            <a:off x="685800" y="3291839"/>
            <a:ext cx="109728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9" name="TextBox 19"/>
          <p:cNvSpPr txBox="1"/>
          <p:nvPr/>
        </p:nvSpPr>
        <p:spPr>
          <a:xfrm>
            <a:off x="978408" y="3493008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Evaluators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8408" y="3913631"/>
            <a:ext cx="2880360" cy="62179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  <a:latin typeface="Aptos"/>
              </a:rPr>
              <a:t>LLM-as-judge rules configured for target dimensions</a:t>
            </a:r>
          </a:p>
        </p:txBody>
      </p:sp>
      <p:sp>
        <p:nvSpPr>
          <p:cNvPr id="21" name="Shape 21"/>
          <p:cNvSpPr/>
          <p:nvPr/>
        </p:nvSpPr>
        <p:spPr>
          <a:xfrm>
            <a:off x="4480560" y="3291839"/>
            <a:ext cx="3337560" cy="14173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2" name="Shape 22"/>
          <p:cNvSpPr/>
          <p:nvPr/>
        </p:nvSpPr>
        <p:spPr>
          <a:xfrm>
            <a:off x="4480560" y="3291839"/>
            <a:ext cx="109728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3" name="TextBox 23"/>
          <p:cNvSpPr txBox="1"/>
          <p:nvPr/>
        </p:nvSpPr>
        <p:spPr>
          <a:xfrm>
            <a:off x="4773168" y="3493008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Scores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73168" y="3913631"/>
            <a:ext cx="2880360" cy="62179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  <a:latin typeface="Aptos"/>
              </a:rPr>
              <a:t>Numeric/categorical results from judges and reviewers</a:t>
            </a:r>
          </a:p>
        </p:txBody>
      </p:sp>
      <p:sp>
        <p:nvSpPr>
          <p:cNvPr id="25" name="Shape 25"/>
          <p:cNvSpPr/>
          <p:nvPr/>
        </p:nvSpPr>
        <p:spPr>
          <a:xfrm>
            <a:off x="8275320" y="3291839"/>
            <a:ext cx="3337560" cy="14173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6" name="Shape 26"/>
          <p:cNvSpPr/>
          <p:nvPr/>
        </p:nvSpPr>
        <p:spPr>
          <a:xfrm>
            <a:off x="8275320" y="3291839"/>
            <a:ext cx="109728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7" name="TextBox 27"/>
          <p:cNvSpPr txBox="1"/>
          <p:nvPr/>
        </p:nvSpPr>
        <p:spPr>
          <a:xfrm>
            <a:off x="8567928" y="3493008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Queues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567928" y="3913631"/>
            <a:ext cx="2880360" cy="62179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475569"/>
                </a:solidFill>
                <a:latin typeface="Aptos"/>
              </a:rPr>
              <a:t>Human annotation queue items selected from completed outputs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Phase 1: Collect And Create Project Artifacts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Local files remain authoritative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Chevron 5"/>
          <p:cNvSpPr/>
          <p:nvPr/>
        </p:nvSpPr>
        <p:spPr>
          <a:xfrm>
            <a:off x="594360" y="1600200"/>
            <a:ext cx="2057400" cy="868680"/>
          </a:xfrm>
          <a:prstGeom prst="chevron">
            <a:avLst/>
          </a:prstGeom>
          <a:solidFill>
            <a:srgbClr val="2563EB"/>
          </a:solidFill>
          <a:ln w="12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FFFFFF"/>
                </a:solidFill>
                <a:latin typeface="Aptos"/>
              </a:rPr>
              <a:t>Project YAML</a:t>
            </a:r>
          </a:p>
        </p:txBody>
      </p:sp>
      <p:sp>
        <p:nvSpPr>
          <p:cNvPr id="6" name="Chevron 6"/>
          <p:cNvSpPr/>
          <p:nvPr/>
        </p:nvSpPr>
        <p:spPr>
          <a:xfrm>
            <a:off x="2807208" y="1600200"/>
            <a:ext cx="2057400" cy="868680"/>
          </a:xfrm>
          <a:prstGeom prst="chevron">
            <a:avLst/>
          </a:prstGeom>
          <a:solidFill>
            <a:srgbClr val="0F766E"/>
          </a:solidFill>
          <a:ln w="12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FFFFFF"/>
                </a:solidFill>
                <a:latin typeface="Aptos"/>
              </a:rPr>
              <a:t>Dataset CSV</a:t>
            </a:r>
          </a:p>
        </p:txBody>
      </p:sp>
      <p:sp>
        <p:nvSpPr>
          <p:cNvPr id="7" name="Chevron 7"/>
          <p:cNvSpPr/>
          <p:nvPr/>
        </p:nvSpPr>
        <p:spPr>
          <a:xfrm>
            <a:off x="5020056" y="1600200"/>
            <a:ext cx="2057400" cy="868680"/>
          </a:xfrm>
          <a:prstGeom prst="chevron">
            <a:avLst/>
          </a:prstGeom>
          <a:solidFill>
            <a:srgbClr val="16A34A"/>
          </a:solidFill>
          <a:ln w="12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FFFFFF"/>
                </a:solidFill>
                <a:latin typeface="Aptos"/>
              </a:rPr>
              <a:t>Task Prompt</a:t>
            </a:r>
          </a:p>
        </p:txBody>
      </p:sp>
      <p:sp>
        <p:nvSpPr>
          <p:cNvPr id="8" name="Chevron 8"/>
          <p:cNvSpPr/>
          <p:nvPr/>
        </p:nvSpPr>
        <p:spPr>
          <a:xfrm>
            <a:off x="7232904" y="1600200"/>
            <a:ext cx="2057400" cy="868680"/>
          </a:xfrm>
          <a:prstGeom prst="chevron">
            <a:avLst/>
          </a:prstGeom>
          <a:solidFill>
            <a:srgbClr val="7C3AED"/>
          </a:solidFill>
          <a:ln w="12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FFFFFF"/>
                </a:solidFill>
                <a:latin typeface="Aptos"/>
              </a:rPr>
              <a:t>Judge Prompts</a:t>
            </a:r>
          </a:p>
        </p:txBody>
      </p:sp>
      <p:sp>
        <p:nvSpPr>
          <p:cNvPr id="9" name="Chevron 9"/>
          <p:cNvSpPr/>
          <p:nvPr/>
        </p:nvSpPr>
        <p:spPr>
          <a:xfrm>
            <a:off x="9445752" y="1600200"/>
            <a:ext cx="2057400" cy="868680"/>
          </a:xfrm>
          <a:prstGeom prst="chevron">
            <a:avLst/>
          </a:prstGeom>
          <a:solidFill>
            <a:srgbClr val="EA580C"/>
          </a:solidFill>
          <a:ln w="12000">
            <a:solidFill>
              <a:srgbClr val="FFFFFF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900" dirty="0">
                <a:b/>
                <a:solidFill>
                  <a:srgbClr val="FFFFFF"/>
                </a:solidFill>
                <a:latin typeface="Aptos"/>
              </a:rPr>
              <a:t>Candidate Configs</a:t>
            </a:r>
          </a:p>
        </p:txBody>
      </p:sp>
      <p:sp>
        <p:nvSpPr>
          <p:cNvPr id="10" name="Shape 10"/>
          <p:cNvSpPr/>
          <p:nvPr/>
        </p:nvSpPr>
        <p:spPr>
          <a:xfrm>
            <a:off x="914400" y="3063240"/>
            <a:ext cx="10149840" cy="224028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1" name="Shape 11"/>
          <p:cNvSpPr/>
          <p:nvPr/>
        </p:nvSpPr>
        <p:spPr>
          <a:xfrm>
            <a:off x="914400" y="3063240"/>
            <a:ext cx="73152" cy="2240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1170432" y="3246120"/>
            <a:ext cx="97383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Outputs of this phase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07008" y="3657600"/>
            <a:ext cx="9646919" cy="150876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A validated project definition that names dataset, baseline, candidates, prompt versions, evaluators, and human review policy.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Stable prompt and parameter identities for reproducible baseline and candidate comparisons.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No Langfuse mutation is required yet; this phase can be reviewed locally.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Phase 2: Setup Langfuse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Use dry-run first, then apply managed assets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731520" y="1600200"/>
            <a:ext cx="2926080" cy="914400"/>
          </a:xfrm>
          <a:prstGeom prst="roundRect">
            <a:avLst/>
          </a:prstGeom>
          <a:solidFill>
            <a:srgbClr val="F8FAFC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sync-all --dry-run</a:t>
            </a:r>
          </a:p>
        </p:txBody>
      </p:sp>
      <p:sp>
        <p:nvSpPr>
          <p:cNvPr id="6" name="Shape 6"/>
          <p:cNvSpPr/>
          <p:nvPr/>
        </p:nvSpPr>
        <p:spPr>
          <a:xfrm>
            <a:off x="4251960" y="1600200"/>
            <a:ext cx="2926080" cy="914400"/>
          </a:xfrm>
          <a:prstGeom prst="roundRect">
            <a:avLst/>
          </a:prstGeom>
          <a:solidFill>
            <a:srgbClr val="FEF3C7"/>
          </a:solidFill>
          <a:ln w="18000">
            <a:solidFill>
              <a:srgbClr val="FCD34D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78350F"/>
                </a:solidFill>
                <a:latin typeface="Aptos"/>
              </a:rPr>
              <a:t>Review Plan</a:t>
            </a:r>
          </a:p>
        </p:txBody>
      </p:sp>
      <p:sp>
        <p:nvSpPr>
          <p:cNvPr id="7" name="Shape 7"/>
          <p:cNvSpPr/>
          <p:nvPr/>
        </p:nvSpPr>
        <p:spPr>
          <a:xfrm>
            <a:off x="7772400" y="1600200"/>
            <a:ext cx="2926080" cy="914400"/>
          </a:xfrm>
          <a:prstGeom prst="roundRect">
            <a:avLst/>
          </a:prstGeom>
          <a:solidFill>
            <a:srgbClr val="ECFDF5"/>
          </a:solidFill>
          <a:ln w="18000">
            <a:solidFill>
              <a:srgbClr val="86EFAC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4532D"/>
                </a:solidFill>
                <a:latin typeface="Aptos"/>
              </a:rPr>
              <a:t>sync-all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85032" y="2057400"/>
            <a:ext cx="539495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cxnSp>
        <p:nvCxnSpPr>
          <p:cNvPr id="9" name="Arrow 9"/>
          <p:cNvCxnSpPr/>
          <p:nvPr/>
        </p:nvCxnSpPr>
        <p:spPr>
          <a:xfrm>
            <a:off x="7205472" y="2057400"/>
            <a:ext cx="539496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0" name="Shape 10"/>
          <p:cNvSpPr/>
          <p:nvPr/>
        </p:nvSpPr>
        <p:spPr>
          <a:xfrm>
            <a:off x="868680" y="3429000"/>
            <a:ext cx="1874519" cy="6858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700" dirty="0">
                <a:b/>
                <a:solidFill>
                  <a:srgbClr val="334155"/>
                </a:solidFill>
                <a:latin typeface="Aptos"/>
              </a:rPr>
              <a:t>Dataset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3429000"/>
            <a:ext cx="1874519" cy="6858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700" dirty="0">
                <a:b/>
                <a:solidFill>
                  <a:srgbClr val="334155"/>
                </a:solidFill>
                <a:latin typeface="Aptos"/>
              </a:rPr>
              <a:t>Prompts</a:t>
            </a:r>
          </a:p>
        </p:txBody>
      </p:sp>
      <p:sp>
        <p:nvSpPr>
          <p:cNvPr id="12" name="Shape 12"/>
          <p:cNvSpPr/>
          <p:nvPr/>
        </p:nvSpPr>
        <p:spPr>
          <a:xfrm>
            <a:off x="5349240" y="3429000"/>
            <a:ext cx="1874519" cy="6858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700" dirty="0">
                <a:b/>
                <a:solidFill>
                  <a:srgbClr val="334155"/>
                </a:solidFill>
                <a:latin typeface="Aptos"/>
              </a:rPr>
              <a:t>Score Configs</a:t>
            </a:r>
          </a:p>
        </p:txBody>
      </p:sp>
      <p:sp>
        <p:nvSpPr>
          <p:cNvPr id="13" name="Shape 13"/>
          <p:cNvSpPr/>
          <p:nvPr/>
        </p:nvSpPr>
        <p:spPr>
          <a:xfrm>
            <a:off x="7589520" y="3429000"/>
            <a:ext cx="1874519" cy="6858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700" dirty="0">
                <a:b/>
                <a:solidFill>
                  <a:srgbClr val="334155"/>
                </a:solidFill>
                <a:latin typeface="Aptos"/>
              </a:rPr>
              <a:t>LLM Judges</a:t>
            </a:r>
          </a:p>
        </p:txBody>
      </p:sp>
      <p:sp>
        <p:nvSpPr>
          <p:cNvPr id="14" name="Shape 14"/>
          <p:cNvSpPr/>
          <p:nvPr/>
        </p:nvSpPr>
        <p:spPr>
          <a:xfrm>
            <a:off x="9829800" y="3429000"/>
            <a:ext cx="1874519" cy="68580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700" dirty="0">
                <a:b/>
                <a:solidFill>
                  <a:srgbClr val="334155"/>
                </a:solidFill>
                <a:latin typeface="Aptos"/>
              </a:rPr>
              <a:t>Annotation Queue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4709160"/>
            <a:ext cx="9875520" cy="5486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Setup is repeatable: compatible assets are reused, managed assets are updated only through controlled commands, and local binding references support provenance.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Phase 3: Run Experiments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Generate baseline and candidate traces, then evaluate and review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502920" y="1417320"/>
            <a:ext cx="2011680" cy="146304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TextBox 6"/>
          <p:cNvSpPr txBox="1"/>
          <p:nvPr/>
        </p:nvSpPr>
        <p:spPr>
          <a:xfrm>
            <a:off x="667512" y="1627632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2563EB"/>
                </a:solidFill>
                <a:latin typeface="Aptos"/>
              </a:rPr>
              <a:t>Baseline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7512" y="2057400"/>
            <a:ext cx="1691640" cy="53035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1600" dirty="0">
                <a:solidFill>
                  <a:srgbClr val="475569"/>
                </a:solidFill>
                <a:latin typeface="Aptos"/>
              </a:rPr>
              <a:t>Run reference model and prompt version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2532888" y="2148840"/>
            <a:ext cx="274319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9" name="Shape 9"/>
          <p:cNvSpPr/>
          <p:nvPr/>
        </p:nvSpPr>
        <p:spPr>
          <a:xfrm>
            <a:off x="2834639" y="1417320"/>
            <a:ext cx="2011680" cy="146304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0" name="TextBox 10"/>
          <p:cNvSpPr txBox="1"/>
          <p:nvPr/>
        </p:nvSpPr>
        <p:spPr>
          <a:xfrm>
            <a:off x="2999232" y="1627632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0F766E"/>
                </a:solidFill>
                <a:latin typeface="Aptos"/>
              </a:rPr>
              <a:t>Candidate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999232" y="2057400"/>
            <a:ext cx="1691640" cy="53035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1600" dirty="0">
                <a:solidFill>
                  <a:srgbClr val="475569"/>
                </a:solidFill>
                <a:latin typeface="Aptos"/>
              </a:rPr>
              <a:t>Run model, prompt, parameter, or mixed variant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864608" y="2148840"/>
            <a:ext cx="274319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3" name="Shape 13"/>
          <p:cNvSpPr/>
          <p:nvPr/>
        </p:nvSpPr>
        <p:spPr>
          <a:xfrm>
            <a:off x="5166359" y="1417320"/>
            <a:ext cx="2011680" cy="146304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5330951" y="1627632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6A34A"/>
                </a:solidFill>
                <a:latin typeface="Aptos"/>
              </a:rPr>
              <a:t>Trace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30951" y="2057400"/>
            <a:ext cx="1691640" cy="53035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1600" dirty="0">
                <a:solidFill>
                  <a:srgbClr val="475569"/>
                </a:solidFill>
                <a:latin typeface="Aptos"/>
              </a:rPr>
              <a:t>Capture item input, output, metadata, and observation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7196327" y="2148840"/>
            <a:ext cx="274320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7" name="Shape 17"/>
          <p:cNvSpPr/>
          <p:nvPr/>
        </p:nvSpPr>
        <p:spPr>
          <a:xfrm>
            <a:off x="7498079" y="1417320"/>
            <a:ext cx="2011680" cy="146304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8" name="TextBox 18"/>
          <p:cNvSpPr txBox="1"/>
          <p:nvPr/>
        </p:nvSpPr>
        <p:spPr>
          <a:xfrm>
            <a:off x="7662671" y="1627632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7C3AED"/>
                </a:solidFill>
                <a:latin typeface="Aptos"/>
              </a:rPr>
              <a:t>Evaluate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62671" y="2057400"/>
            <a:ext cx="1691640" cy="53035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1600" dirty="0">
                <a:solidFill>
                  <a:srgbClr val="475569"/>
                </a:solidFill>
                <a:latin typeface="Aptos"/>
              </a:rPr>
              <a:t>LLM-as-judge emits scores in Langfuse</a:t>
            </a:r>
          </a:p>
        </p:txBody>
      </p:sp>
      <p:cxnSp>
        <p:nvCxnSpPr>
          <p:cNvPr id="20" name="Arrow 20"/>
          <p:cNvCxnSpPr/>
          <p:nvPr/>
        </p:nvCxnSpPr>
        <p:spPr>
          <a:xfrm>
            <a:off x="9528048" y="2148840"/>
            <a:ext cx="274319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21" name="Shape 21"/>
          <p:cNvSpPr/>
          <p:nvPr/>
        </p:nvSpPr>
        <p:spPr>
          <a:xfrm>
            <a:off x="9829800" y="1417320"/>
            <a:ext cx="2011680" cy="146304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2" name="TextBox 22"/>
          <p:cNvSpPr txBox="1"/>
          <p:nvPr/>
        </p:nvSpPr>
        <p:spPr>
          <a:xfrm>
            <a:off x="9994392" y="1627632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EA580C"/>
                </a:solidFill>
                <a:latin typeface="Aptos"/>
              </a:rPr>
              <a:t>Review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994392" y="2057400"/>
            <a:ext cx="1691640" cy="530352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1600" dirty="0">
                <a:solidFill>
                  <a:srgbClr val="475569"/>
                </a:solidFill>
                <a:latin typeface="Aptos"/>
              </a:rPr>
              <a:t>Selected items route to human annotation queue</a:t>
            </a:r>
          </a:p>
        </p:txBody>
      </p:sp>
      <p:sp>
        <p:nvSpPr>
          <p:cNvPr id="24" name="Shape 24"/>
          <p:cNvSpPr/>
          <p:nvPr/>
        </p:nvSpPr>
        <p:spPr>
          <a:xfrm>
            <a:off x="914400" y="3657600"/>
            <a:ext cx="10058400" cy="16459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5" name="Shape 25"/>
          <p:cNvSpPr/>
          <p:nvPr/>
        </p:nvSpPr>
        <p:spPr>
          <a:xfrm>
            <a:off x="914400" y="3657600"/>
            <a:ext cx="73152" cy="1645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26" name="TextBox 26"/>
          <p:cNvSpPr txBox="1"/>
          <p:nvPr/>
        </p:nvSpPr>
        <p:spPr>
          <a:xfrm>
            <a:off x="1170432" y="3840480"/>
            <a:ext cx="964692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Comparison signals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7008" y="4251960"/>
            <a:ext cx="9555480" cy="9144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Trace metadata links score outcomes back to run IDs, item IDs, model configs, prompt identities, and parameter identities.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Automated scores use source EVAL; human scores use source ANNOTATION for side-by-side analysis.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End-To-End Workflow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From local artifacts to score comparison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685800" y="1508760"/>
            <a:ext cx="2423160" cy="3566160"/>
          </a:xfrm>
          <a:prstGeom prst="roundRect">
            <a:avLst/>
          </a:prstGeom>
          <a:solidFill>
            <a:srgbClr val="DBEAFE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TextBox 6"/>
          <p:cNvSpPr txBox="1"/>
          <p:nvPr/>
        </p:nvSpPr>
        <p:spPr>
          <a:xfrm>
            <a:off x="868680" y="1783080"/>
            <a:ext cx="205740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E3A8A"/>
                </a:solidFill>
                <a:latin typeface="Aptos"/>
              </a:rPr>
              <a:t>Local Project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41832" y="2423160"/>
            <a:ext cx="1920240" cy="21488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YAML config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CSV dataset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Prompt files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127248" y="3246120"/>
            <a:ext cx="347471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9" name="Shape 9"/>
          <p:cNvSpPr/>
          <p:nvPr/>
        </p:nvSpPr>
        <p:spPr>
          <a:xfrm>
            <a:off x="3520440" y="1508760"/>
            <a:ext cx="2423160" cy="3566160"/>
          </a:xfrm>
          <a:prstGeom prst="roundRect">
            <a:avLst/>
          </a:prstGeom>
          <a:solidFill>
            <a:srgbClr val="F8FAFC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0" name="TextBox 10"/>
          <p:cNvSpPr txBox="1"/>
          <p:nvPr/>
        </p:nvSpPr>
        <p:spPr>
          <a:xfrm>
            <a:off x="3703320" y="1783080"/>
            <a:ext cx="205740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11827"/>
                </a:solidFill>
                <a:latin typeface="Aptos"/>
              </a:rPr>
              <a:t>Harness CLI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76472" y="2423160"/>
            <a:ext cx="1920240" cy="21488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validate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sync-all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run baseline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run candidate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5961888" y="3246120"/>
            <a:ext cx="347472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3" name="Shape 13"/>
          <p:cNvSpPr/>
          <p:nvPr/>
        </p:nvSpPr>
        <p:spPr>
          <a:xfrm>
            <a:off x="6355080" y="1508760"/>
            <a:ext cx="2423160" cy="3566160"/>
          </a:xfrm>
          <a:prstGeom prst="roundRect">
            <a:avLst/>
          </a:prstGeom>
          <a:solidFill>
            <a:srgbClr val="CCFBF1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6537960" y="1783080"/>
            <a:ext cx="205740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134E4A"/>
                </a:solidFill>
                <a:latin typeface="Aptos"/>
              </a:rPr>
              <a:t>Langfuse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611112" y="2423160"/>
            <a:ext cx="1920240" cy="21488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prompts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traces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evaluators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scores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queues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8796528" y="3246120"/>
            <a:ext cx="347471" cy="0"/>
          </a:xfrm>
          <a:prstGeom prst="line">
            <a:avLst/>
          </a:prstGeom>
          <a:ln w="22000">
            <a:solidFill>
              <a:srgbClr val="64748B"/>
            </a:solidFill>
            <a:headEnd type="triangle"/>
          </a:ln>
        </p:spPr>
      </p:cxnSp>
      <p:sp>
        <p:nvSpPr>
          <p:cNvPr id="17" name="Shape 17"/>
          <p:cNvSpPr/>
          <p:nvPr/>
        </p:nvSpPr>
        <p:spPr>
          <a:xfrm>
            <a:off x="9189720" y="1508760"/>
            <a:ext cx="2423160" cy="3566160"/>
          </a:xfrm>
          <a:prstGeom prst="roundRect">
            <a:avLst/>
          </a:prstGeom>
          <a:solidFill>
            <a:srgbClr val="FEF3C7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8" name="TextBox 18"/>
          <p:cNvSpPr txBox="1"/>
          <p:nvPr/>
        </p:nvSpPr>
        <p:spPr>
          <a:xfrm>
            <a:off x="9372600" y="1783080"/>
            <a:ext cx="205740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ctr"/>
            <a:r>
              <a:rPr lang="en-US" sz="2000" dirty="0">
                <a:b/>
                <a:solidFill>
                  <a:srgbClr val="78350F"/>
                </a:solidFill>
                <a:latin typeface="Aptos"/>
              </a:rPr>
              <a:t>Decision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45752" y="2423160"/>
            <a:ext cx="1920240" cy="21488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compare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inspect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calibrate</a:t>
            </a:r>
          </a:p>
          <a:p>
            <a:pPr algn="l"/>
            <a:r>
              <a:rPr lang="en-US" sz="1700" dirty="0">
                <a:solidFill>
                  <a:srgbClr val="334155"/>
                </a:solidFill>
                <a:latin typeface="Aptos"/>
              </a:rPr>
              <a:t>- iterate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Demo At The End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Show the feedback loop in Langfuse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" y="1417320"/>
            <a:ext cx="10058400" cy="9601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6" name="Shape 6"/>
          <p:cNvSpPr/>
          <p:nvPr/>
        </p:nvSpPr>
        <p:spPr>
          <a:xfrm>
            <a:off x="914400" y="1417320"/>
            <a:ext cx="12801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7" name="TextBox 7"/>
          <p:cNvSpPr txBox="1"/>
          <p:nvPr/>
        </p:nvSpPr>
        <p:spPr>
          <a:xfrm>
            <a:off x="1234440" y="1600200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1. LLM-as-Judge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40480" y="1600200"/>
            <a:ext cx="6766560" cy="47548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Open evaluator setup and show automated scores landing on traces.</a:t>
            </a:r>
          </a:p>
        </p:txBody>
      </p:sp>
      <p:sp>
        <p:nvSpPr>
          <p:cNvPr id="9" name="Shape 9"/>
          <p:cNvSpPr/>
          <p:nvPr/>
        </p:nvSpPr>
        <p:spPr>
          <a:xfrm>
            <a:off x="914400" y="2834640"/>
            <a:ext cx="10058400" cy="9601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0" name="Shape 10"/>
          <p:cNvSpPr/>
          <p:nvPr/>
        </p:nvSpPr>
        <p:spPr>
          <a:xfrm>
            <a:off x="914400" y="2834640"/>
            <a:ext cx="128016" cy="960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1234440" y="3017520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2. Human Queue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40480" y="3017520"/>
            <a:ext cx="6766560" cy="47548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Open selected items in the annotation queue and show reviewer scoring.</a:t>
            </a:r>
          </a:p>
        </p:txBody>
      </p:sp>
      <p:sp>
        <p:nvSpPr>
          <p:cNvPr id="13" name="Shape 13"/>
          <p:cNvSpPr/>
          <p:nvPr/>
        </p:nvSpPr>
        <p:spPr>
          <a:xfrm>
            <a:off x="914400" y="4251960"/>
            <a:ext cx="10058400" cy="960120"/>
          </a:xfrm>
          <a:prstGeom prst="roundRect">
            <a:avLst/>
          </a:prstGeom>
          <a:solidFill>
            <a:srgbClr val="FFFFFF"/>
          </a:solidFill>
          <a:ln w="18000">
            <a:solidFill>
              <a:srgbClr val="CBD5E1"/>
            </a:solidFill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4" name="Shape 14"/>
          <p:cNvSpPr/>
          <p:nvPr/>
        </p:nvSpPr>
        <p:spPr>
          <a:xfrm>
            <a:off x="914400" y="4251960"/>
            <a:ext cx="128016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="mid" wrap="square">
            <a:spAutoFit/>
          </a:bodyPr>
          <a:lstStyle/>
          <a:p>
            <a:pPr algn="ctr"/>
          </a:p>
        </p:txBody>
      </p:sp>
      <p:sp>
        <p:nvSpPr>
          <p:cNvPr id="15" name="TextBox 15"/>
          <p:cNvSpPr txBox="1"/>
          <p:nvPr/>
        </p:nvSpPr>
        <p:spPr>
          <a:xfrm>
            <a:off x="1234440" y="4434840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2100" dirty="0">
                <a:b/>
                <a:solidFill>
                  <a:srgbClr val="111827"/>
                </a:solidFill>
                <a:latin typeface="Aptos"/>
              </a:rPr>
              <a:t>3. Scores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840480" y="4434840"/>
            <a:ext cx="6766560" cy="47548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Compare score source EVAL vs ANNOTATION and inspect trace context.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" y="5532120"/>
            <a:ext cx="9509760" cy="384048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475569"/>
                </a:solidFill>
                <a:latin typeface="Aptos"/>
              </a:rPr>
              <a:t>Narrative: the harness creates repeatable experiment data; Langfuse makes the outputs inspectable, judgeable, reviewable, and comparable.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2920" y="644652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Aptos"/>
              </a:rPr>
              <a:t>Evaluator Harness | Langfuse-first offline evaluation workflow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3000" dirty="0">
                <a:b/>
                <a:solidFill>
                  <a:srgbClr val="111827"/>
                </a:solidFill>
                <a:latin typeface="Aptos"/>
              </a:rPr>
              <a:t>Reference Material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30352" y="868680"/>
            <a:ext cx="9509760" cy="32004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700" dirty="0">
                <a:solidFill>
                  <a:srgbClr val="475569"/>
                </a:solidFill>
                <a:latin typeface="Aptos"/>
              </a:rPr>
              <a:t>Project and Langfuse sources used for this presentation</a:t>
            </a:r>
          </a:p>
        </p:txBody>
      </p:sp>
      <p:sp>
        <p:nvSpPr>
          <p:cNvPr id="4" name="Title Rule"/>
          <p:cNvSpPr/>
          <p:nvPr/>
        </p:nvSpPr>
        <p:spPr>
          <a:xfrm>
            <a:off x="502920" y="1143000"/>
            <a:ext cx="950976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822960" y="1417320"/>
            <a:ext cx="10332720" cy="4389120"/>
          </a:xfrm>
          <a:prstGeom prst="rect">
            <a:avLst/>
          </a:prstGeom>
          <a:noFill/>
          <a:ln>
            <a:noFill/>
          </a:ln>
        </p:spPr>
        <p:txBody>
          <a:bodyPr anchor="top" wrap="square">
            <a:spAutoFit/>
          </a:bodyPr>
          <a:lstStyle/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- README.md: harness overview, quickstart, prompt sync, judge setup, review queue, score guidance</a:t>
            </a:r>
          </a:p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- specs/012-sync-langfuse-prompts/plan.md: prompt publishing workflow and constraints</a:t>
            </a:r>
          </a:p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- Langfuse docs: https://langfuse.com/docs/scores and /docs/evaluation/evaluation-methods/annotation-queues</a:t>
            </a:r>
          </a:p>
          <a:p>
            <a:pPr algn="l"/>
            <a:r>
              <a:rPr lang="en-US" sz="1800" dirty="0">
                <a:solidFill>
                  <a:srgbClr val="334155"/>
                </a:solidFill>
                <a:latin typeface="Aptos"/>
              </a:rPr>
              <a:t>- Langfuse Cloud/Self-hosted: https://langfuse.com/docs/deployment/cloud; GitHub: https://github.com/langfuse/langfuse</a:t>
            </a:r>
          </a:p>
        </p:txBody>
      </p:sp>
      <p:sp>
        <p:nvSpPr>
          <p:cNvPr id="6" name="Shape 6"/>
          <p:cNvSpPr/>
          <p:nvPr/>
        </p:nvSpPr>
        <p:spPr>
          <a:xfrm>
            <a:off x="822960" y="5532120"/>
            <a:ext cx="10058400" cy="640080"/>
          </a:xfrm>
          <a:prstGeom prst="roundRect">
            <a:avLst/>
          </a:prstGeom>
          <a:solidFill>
            <a:srgbClr val="EFF6FF"/>
          </a:solidFill>
          <a:ln w="18000">
            <a:solidFill>
              <a:srgbClr val="BFDBFE"/>
            </a:solidFill>
          </a:ln>
        </p:spPr>
        <p:txBody>
          <a:bodyPr anchor="mid" wrap="square">
            <a:spAutoFit/>
          </a:bodyPr>
          <a:lstStyle/>
          <a:p>
            <a:pPr algn="ctr"/>
            <a:r>
              <a:rPr lang="en-US" sz="1800" dirty="0">
                <a:b/>
                <a:solidFill>
                  <a:srgbClr val="1E3A8A"/>
                </a:solidFill>
                <a:latin typeface="Aptos"/>
              </a:rPr>
              <a:t>All slide text is 16pt or larger.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aluator Harness Theme">
  <a:themeElements>
    <a:clrScheme name="EH">
      <a:dk1>
        <a:srgbClr val="111827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16A34A"/>
      </a:accent3>
      <a:accent4>
        <a:srgbClr val="EA580C"/>
      </a:accent4>
      <a:accent5>
        <a:srgbClr val="7C3AED"/>
      </a:accent5>
      <a:accent6>
        <a:srgbClr val="D97706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EH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