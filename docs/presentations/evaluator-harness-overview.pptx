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0" autoAdjust="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B316-656A-F47C-6CC1-A0E316C8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D8691-8D2C-6D0E-38E1-CB015F556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4"/>
          <p:cNvSpPr/>
          <p:nvPr/>
        </p:nvSpPr>
        <p:spPr>
          <a:xfrm>
            <a:off x="8778240" y="0"/>
            <a:ext cx="3474720" cy="6949440"/>
          </a:xfrm>
          <a:prstGeom prst="rect">
            <a:avLst/>
          </a:prstGeom>
          <a:solidFill>
            <a:srgbClr val="255F85"/>
          </a:solidFill>
          <a:ln w="16000">
            <a:solidFill>
              <a:srgbClr val="255F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1"/>
          <p:cNvSpPr txBox="1"/>
          <p:nvPr/>
        </p:nvSpPr>
        <p:spPr>
          <a:xfrm>
            <a:off x="685800" y="105156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3800" b="1" dirty="0">
                <a:solidFill>
                  <a:srgbClr val="FFFFFF"/>
                </a:solidFill>
                <a:latin typeface="Aptos"/>
              </a:rPr>
              <a:t>Evaluator Harness</a:t>
            </a:r>
            <a:endParaRPr lang="en-US" sz="3800"/>
          </a:p>
        </p:txBody>
      </p:sp>
      <p:sp>
        <p:nvSpPr>
          <p:cNvPr id="2" name="TextBox 2"/>
          <p:cNvSpPr txBox="1"/>
          <p:nvPr/>
        </p:nvSpPr>
        <p:spPr>
          <a:xfrm>
            <a:off x="713232" y="1810512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900" dirty="0">
                <a:solidFill>
                  <a:srgbClr val="DCEAFE"/>
                </a:solidFill>
                <a:latin typeface="Aptos"/>
              </a:rPr>
              <a:t>Repeatable LLM evaluation with Langfuse</a:t>
            </a:r>
            <a:endParaRPr lang="en-US" sz="1900"/>
          </a:p>
        </p:txBody>
      </p:sp>
      <p:sp>
        <p:nvSpPr>
          <p:cNvPr id="3" name="TextBox 3"/>
          <p:cNvSpPr txBox="1"/>
          <p:nvPr/>
        </p:nvSpPr>
        <p:spPr>
          <a:xfrm>
            <a:off x="731520" y="452628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600" dirty="0">
                <a:solidFill>
                  <a:srgbClr val="FFFFFF"/>
                </a:solidFill>
                <a:latin typeface="Aptos"/>
              </a:rPr>
              <a:t>Automated model runs | LLM-as-Judge | Human review | Score comparison</a:t>
            </a:r>
            <a:endParaRPr lang="en-US" sz="1600"/>
          </a:p>
        </p:txBody>
      </p:sp>
      <p:sp>
        <p:nvSpPr>
          <p:cNvPr id="5" name="Box 5"/>
          <p:cNvSpPr/>
          <p:nvPr/>
        </p:nvSpPr>
        <p:spPr>
          <a:xfrm>
            <a:off x="7498079" y="1874519"/>
            <a:ext cx="3474720" cy="205740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662671" y="2011679"/>
            <a:ext cx="31455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FFFFFF"/>
                </a:solidFill>
                <a:latin typeface="Aptos"/>
              </a:rPr>
              <a:t>Presentation flow</a:t>
            </a:r>
            <a:endParaRPr lang="en-US" sz="1500"/>
          </a:p>
        </p:txBody>
      </p:sp>
      <p:sp>
        <p:nvSpPr>
          <p:cNvPr id="7" name="TextBox 7"/>
          <p:cNvSpPr txBox="1"/>
          <p:nvPr/>
        </p:nvSpPr>
        <p:spPr>
          <a:xfrm>
            <a:off x="7662671" y="2377439"/>
            <a:ext cx="3145536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50" dirty="0">
                <a:solidFill>
                  <a:srgbClr val="111827"/>
                </a:solidFill>
                <a:latin typeface="Aptos"/>
              </a:rPr>
              <a:t>Objectives</a:t>
            </a:r>
            <a:br/>
            <a:r>
              <a:rPr sz="1150" dirty="0">
                <a:solidFill>
                  <a:srgbClr val="111827"/>
                </a:solidFill>
                <a:latin typeface="Aptos"/>
              </a:rPr>
              <a:t>Langfuse concepts</a:t>
            </a:r>
            <a:br/>
            <a:r>
              <a:rPr sz="1150" dirty="0">
                <a:solidFill>
                  <a:srgbClr val="111827"/>
                </a:solidFill>
                <a:latin typeface="Aptos"/>
              </a:rPr>
              <a:t>Three-phase workflow</a:t>
            </a:r>
            <a:br/>
            <a:r>
              <a:rPr sz="1150" dirty="0">
                <a:solidFill>
                  <a:srgbClr val="111827"/>
                </a:solidFill>
                <a:latin typeface="Aptos"/>
              </a:rPr>
              <a:t>Demo: judges, queue, scores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24D"/>
                </a:solidFill>
                <a:latin typeface="Aptos"/>
              </a:rPr>
              <a:t>Evaluation </a:t>
            </a:r>
            <a:r>
              <a:rPr sz="2600" b="1" dirty="0">
                <a:solidFill>
                  <a:srgbClr val="17324D"/>
                </a:solidFill>
                <a:latin typeface="Aptos"/>
              </a:rPr>
              <a:t>Harness Objectives</a:t>
            </a:r>
            <a:endParaRPr lang="en-US" sz="2600" dirty="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What this project is for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x 5"/>
          <p:cNvSpPr/>
          <p:nvPr/>
        </p:nvSpPr>
        <p:spPr>
          <a:xfrm>
            <a:off x="685800" y="1600200"/>
            <a:ext cx="3383280" cy="169164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2F6F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50392" y="173736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F6FED"/>
                </a:solidFill>
                <a:latin typeface="Aptos"/>
              </a:rPr>
              <a:t>Repeatable experiments</a:t>
            </a:r>
            <a:endParaRPr lang="en-US" sz="1500"/>
          </a:p>
        </p:txBody>
      </p:sp>
      <p:sp>
        <p:nvSpPr>
          <p:cNvPr id="7" name="TextBox 7"/>
          <p:cNvSpPr txBox="1"/>
          <p:nvPr/>
        </p:nvSpPr>
        <p:spPr>
          <a:xfrm>
            <a:off x="789435" y="1991032"/>
            <a:ext cx="3054096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Run the same dataset through a baseline and one or more candidates with consistent metadata.</a:t>
            </a:r>
            <a:endParaRPr lang="en-US" dirty="0"/>
          </a:p>
        </p:txBody>
      </p:sp>
      <p:sp>
        <p:nvSpPr>
          <p:cNvPr id="8" name="Box 8"/>
          <p:cNvSpPr/>
          <p:nvPr/>
        </p:nvSpPr>
        <p:spPr>
          <a:xfrm>
            <a:off x="4434840" y="1600200"/>
            <a:ext cx="3383280" cy="169164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599432" y="173736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008C95"/>
                </a:solidFill>
                <a:latin typeface="Aptos"/>
              </a:rPr>
              <a:t>Comparable outputs</a:t>
            </a:r>
            <a:endParaRPr lang="en-US" sz="1500"/>
          </a:p>
        </p:txBody>
      </p:sp>
      <p:sp>
        <p:nvSpPr>
          <p:cNvPr id="10" name="TextBox 10"/>
          <p:cNvSpPr txBox="1"/>
          <p:nvPr/>
        </p:nvSpPr>
        <p:spPr>
          <a:xfrm>
            <a:off x="4538475" y="1991032"/>
            <a:ext cx="3054096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Keep prompts, models, parameters, traces, and run IDs tied together for fair comparisons.</a:t>
            </a:r>
            <a:endParaRPr lang="en-US" dirty="0"/>
          </a:p>
        </p:txBody>
      </p:sp>
      <p:sp>
        <p:nvSpPr>
          <p:cNvPr id="11" name="Box 11"/>
          <p:cNvSpPr/>
          <p:nvPr/>
        </p:nvSpPr>
        <p:spPr>
          <a:xfrm>
            <a:off x="8183879" y="1600200"/>
            <a:ext cx="3383280" cy="169164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6A4C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348471" y="173736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6A4C93"/>
                </a:solidFill>
                <a:latin typeface="Aptos"/>
              </a:rPr>
              <a:t>Automated evaluation</a:t>
            </a:r>
            <a:endParaRPr lang="en-US" sz="1500"/>
          </a:p>
        </p:txBody>
      </p:sp>
      <p:sp>
        <p:nvSpPr>
          <p:cNvPr id="13" name="TextBox 13"/>
          <p:cNvSpPr txBox="1"/>
          <p:nvPr/>
        </p:nvSpPr>
        <p:spPr>
          <a:xfrm>
            <a:off x="8287514" y="1991032"/>
            <a:ext cx="3054096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Create LLM-as-Judge evaluators and score configs from local project definitions.</a:t>
            </a:r>
            <a:endParaRPr lang="en-US" dirty="0"/>
          </a:p>
        </p:txBody>
      </p:sp>
      <p:sp>
        <p:nvSpPr>
          <p:cNvPr id="14" name="Box 14"/>
          <p:cNvSpPr/>
          <p:nvPr/>
        </p:nvSpPr>
        <p:spPr>
          <a:xfrm>
            <a:off x="2560320" y="3840481"/>
            <a:ext cx="3383280" cy="1691638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C46A1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724912" y="3977641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C46A1A"/>
                </a:solidFill>
                <a:latin typeface="Aptos"/>
              </a:rPr>
              <a:t>Human calibration</a:t>
            </a:r>
            <a:endParaRPr lang="en-US" sz="1500"/>
          </a:p>
        </p:txBody>
      </p:sp>
      <p:sp>
        <p:nvSpPr>
          <p:cNvPr id="16" name="TextBox 16"/>
          <p:cNvSpPr txBox="1"/>
          <p:nvPr/>
        </p:nvSpPr>
        <p:spPr>
          <a:xfrm>
            <a:off x="2724912" y="4239672"/>
            <a:ext cx="3054096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Route selected outputs to Langfuse annotation queues so reviewers can compare against judge scores.</a:t>
            </a:r>
            <a:endParaRPr lang="en-US" dirty="0"/>
          </a:p>
        </p:txBody>
      </p:sp>
      <p:sp>
        <p:nvSpPr>
          <p:cNvPr id="17" name="Box 17"/>
          <p:cNvSpPr/>
          <p:nvPr/>
        </p:nvSpPr>
        <p:spPr>
          <a:xfrm>
            <a:off x="6309360" y="3840480"/>
            <a:ext cx="3383280" cy="1691639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2E7D3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473952" y="3977641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E7D32"/>
                </a:solidFill>
                <a:latin typeface="Aptos"/>
              </a:rPr>
              <a:t>Git-owned setup</a:t>
            </a:r>
            <a:endParaRPr lang="en-US" sz="1500"/>
          </a:p>
        </p:txBody>
      </p:sp>
      <p:sp>
        <p:nvSpPr>
          <p:cNvPr id="19" name="TextBox 19"/>
          <p:cNvSpPr txBox="1"/>
          <p:nvPr/>
        </p:nvSpPr>
        <p:spPr>
          <a:xfrm>
            <a:off x="6473952" y="4239672"/>
            <a:ext cx="3054096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Repository artifacts remain the source of truth; Langfuse receives synced copies or derived resources.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What Langfuse Is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Open-source LLM engineering platform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22960" y="1783080"/>
            <a:ext cx="5303520" cy="3566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Tracing and observability for LLM applications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Prompt management and prompt version visibility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Datasets and experiment runs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Evaluation workflows, including LLM-as-Judge and human annotation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Scores, metrics, and dashboards for comparison</a:t>
            </a:r>
            <a:endParaRPr lang="en-US" dirty="0"/>
          </a:p>
        </p:txBody>
      </p:sp>
      <p:sp>
        <p:nvSpPr>
          <p:cNvPr id="6" name="Box 6"/>
          <p:cNvSpPr/>
          <p:nvPr/>
        </p:nvSpPr>
        <p:spPr>
          <a:xfrm>
            <a:off x="6537960" y="1783080"/>
            <a:ext cx="4517136" cy="224028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702552" y="1920240"/>
            <a:ext cx="410565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008C95"/>
                </a:solidFill>
                <a:latin typeface="Aptos"/>
              </a:rPr>
              <a:t>Deployment options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6702552" y="2103120"/>
            <a:ext cx="4517136" cy="178062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lang="en-US" dirty="0">
                <a:solidFill>
                  <a:srgbClr val="111827"/>
                </a:solidFill>
                <a:latin typeface="Aptos"/>
              </a:rPr>
              <a:t>- </a:t>
            </a:r>
            <a:r>
              <a:rPr dirty="0" err="1">
                <a:solidFill>
                  <a:srgbClr val="111827"/>
                </a:solidFill>
                <a:latin typeface="Aptos"/>
              </a:rPr>
              <a:t>Langfuse</a:t>
            </a:r>
            <a:r>
              <a:rPr dirty="0">
                <a:solidFill>
                  <a:srgbClr val="111827"/>
                </a:solidFill>
                <a:latin typeface="Aptos"/>
              </a:rPr>
              <a:t> </a:t>
            </a:r>
            <a:r>
              <a:rPr b="1" dirty="0">
                <a:solidFill>
                  <a:srgbClr val="111827"/>
                </a:solidFill>
                <a:latin typeface="Aptos"/>
              </a:rPr>
              <a:t>Cloud</a:t>
            </a:r>
            <a:r>
              <a:rPr dirty="0">
                <a:solidFill>
                  <a:srgbClr val="111827"/>
                </a:solidFill>
                <a:latin typeface="Aptos"/>
              </a:rPr>
              <a:t> for managed operations.</a:t>
            </a:r>
            <a:br>
              <a:rPr dirty="0"/>
            </a:br>
            <a:r>
              <a:rPr lang="en-US" dirty="0"/>
              <a:t>- </a:t>
            </a:r>
            <a:r>
              <a:rPr b="1" dirty="0">
                <a:solidFill>
                  <a:srgbClr val="111827"/>
                </a:solidFill>
                <a:latin typeface="Aptos"/>
              </a:rPr>
              <a:t>Self-hosted</a:t>
            </a:r>
            <a:r>
              <a:rPr dirty="0">
                <a:solidFill>
                  <a:srgbClr val="111827"/>
                </a:solidFill>
                <a:latin typeface="Aptos"/>
              </a:rPr>
              <a:t> deployment for teams that need infrastructure control.</a:t>
            </a:r>
            <a:br>
              <a:rPr dirty="0"/>
            </a:br>
            <a:endParaRPr lang="en-US" dirty="0"/>
          </a:p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Open-source project with APIs that the harness can automate against.</a:t>
            </a:r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612648" y="5598413"/>
            <a:ext cx="10863072" cy="672084"/>
          </a:xfrm>
          <a:prstGeom prst="roundRect">
            <a:avLst/>
          </a:prstGeom>
          <a:solidFill>
            <a:srgbClr val="EAF6F7"/>
          </a:solidFill>
          <a:ln w="14000">
            <a:solidFill>
              <a:srgbClr val="B7E0E3"/>
            </a:solidFill>
          </a:ln>
        </p:spPr>
        <p:txBody>
          <a:bodyPr wrap="square"/>
          <a:lstStyle/>
          <a:p>
            <a:pPr marL="0" indent="0" algn="l">
              <a:buNone/>
            </a:pPr>
            <a:r>
              <a:rPr sz="1400" dirty="0">
                <a:solidFill>
                  <a:srgbClr val="17324D"/>
                </a:solidFill>
                <a:latin typeface="Aptos"/>
              </a:rPr>
              <a:t>The harness does not replace Langfuse. It prepares and runs evaluation projects so Langfuse can be the inspection, scoring, and collaboration layer.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Why The </a:t>
            </a:r>
            <a:r>
              <a:rPr lang="en-US" sz="2600" b="1" dirty="0">
                <a:solidFill>
                  <a:srgbClr val="17324D"/>
                </a:solidFill>
                <a:latin typeface="Aptos"/>
              </a:rPr>
              <a:t>Evaluation </a:t>
            </a:r>
            <a:r>
              <a:rPr sz="2600" b="1" dirty="0">
                <a:solidFill>
                  <a:srgbClr val="17324D"/>
                </a:solidFill>
                <a:latin typeface="Aptos"/>
              </a:rPr>
              <a:t>Harness Exists</a:t>
            </a:r>
            <a:endParaRPr lang="en-US" sz="2600" dirty="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Moving from ad hoc testing to governed evaluation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41248" y="1783080"/>
            <a:ext cx="507492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6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/>
              </a:rPr>
              <a:t>Provide structure on </a:t>
            </a:r>
            <a:r>
              <a:rPr lang="en-US" dirty="0" err="1">
                <a:solidFill>
                  <a:srgbClr val="111827"/>
                </a:solidFill>
                <a:latin typeface="Aptos"/>
              </a:rPr>
              <a:t>Langfuse</a:t>
            </a:r>
            <a:r>
              <a:rPr lang="en-US" dirty="0">
                <a:solidFill>
                  <a:srgbClr val="111827"/>
                </a:solidFill>
                <a:latin typeface="Aptos"/>
              </a:rPr>
              <a:t> use.</a:t>
            </a:r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/>
              </a:rPr>
              <a:t>Allow to run full workflows at once.</a:t>
            </a:r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/>
              </a:rPr>
              <a:t>Maintain consistency between runs</a:t>
            </a:r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/>
              </a:rPr>
              <a:t>Helps maintain </a:t>
            </a:r>
            <a:r>
              <a:rPr lang="en-US" dirty="0" err="1">
                <a:solidFill>
                  <a:srgbClr val="111827"/>
                </a:solidFill>
                <a:latin typeface="Aptos"/>
              </a:rPr>
              <a:t>Langfuse</a:t>
            </a:r>
            <a:r>
              <a:rPr lang="en-US" dirty="0">
                <a:solidFill>
                  <a:srgbClr val="111827"/>
                </a:solidFill>
                <a:latin typeface="Aptos"/>
              </a:rPr>
              <a:t> artifacts</a:t>
            </a:r>
            <a:endParaRPr lang="en-US" dirty="0"/>
          </a:p>
        </p:txBody>
      </p:sp>
      <p:sp>
        <p:nvSpPr>
          <p:cNvPr id="7" name="Box 7"/>
          <p:cNvSpPr/>
          <p:nvPr/>
        </p:nvSpPr>
        <p:spPr>
          <a:xfrm>
            <a:off x="7028000" y="1795862"/>
            <a:ext cx="4322752" cy="269748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2F6F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286588" y="1949246"/>
            <a:ext cx="3648455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F6FED"/>
                </a:solidFill>
                <a:latin typeface="Aptos"/>
              </a:rPr>
              <a:t>Harness response</a:t>
            </a:r>
            <a:endParaRPr lang="en-US" sz="1500" dirty="0"/>
          </a:p>
        </p:txBody>
      </p:sp>
      <p:sp>
        <p:nvSpPr>
          <p:cNvPr id="9" name="TextBox 9"/>
          <p:cNvSpPr txBox="1"/>
          <p:nvPr/>
        </p:nvSpPr>
        <p:spPr>
          <a:xfrm>
            <a:off x="7192592" y="2192594"/>
            <a:ext cx="4041648" cy="2057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Local artifacts define the experiment.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Langfuse stores the observable results.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CLI workflows keep setup and runs consistent.</a:t>
            </a:r>
            <a:br>
              <a:rPr dirty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Why Langfuse Helps Here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The harness needs a durable evaluation surface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x 5"/>
          <p:cNvSpPr/>
          <p:nvPr/>
        </p:nvSpPr>
        <p:spPr>
          <a:xfrm>
            <a:off x="685800" y="1600200"/>
            <a:ext cx="3429000" cy="173736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2F6F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50392" y="1737360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F6FED"/>
                </a:solidFill>
                <a:latin typeface="Aptos"/>
              </a:rPr>
              <a:t>Trace inspection</a:t>
            </a:r>
            <a:endParaRPr lang="en-US" sz="1500"/>
          </a:p>
        </p:txBody>
      </p:sp>
      <p:sp>
        <p:nvSpPr>
          <p:cNvPr id="7" name="TextBox 7"/>
          <p:cNvSpPr txBox="1"/>
          <p:nvPr/>
        </p:nvSpPr>
        <p:spPr>
          <a:xfrm>
            <a:off x="850392" y="2103120"/>
            <a:ext cx="3099816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Input, output, model, parameters, prompt identity, metadata, latency, and errors stay attached to the run.</a:t>
            </a:r>
            <a:endParaRPr lang="en-US" dirty="0"/>
          </a:p>
        </p:txBody>
      </p:sp>
      <p:sp>
        <p:nvSpPr>
          <p:cNvPr id="8" name="Box 8"/>
          <p:cNvSpPr/>
          <p:nvPr/>
        </p:nvSpPr>
        <p:spPr>
          <a:xfrm>
            <a:off x="4389120" y="1600200"/>
            <a:ext cx="3429000" cy="173736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2E7D3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553712" y="1737360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E7D32"/>
                </a:solidFill>
                <a:latin typeface="Aptos"/>
              </a:rPr>
              <a:t>Score analytics</a:t>
            </a:r>
            <a:endParaRPr lang="en-US" sz="1500"/>
          </a:p>
        </p:txBody>
      </p:sp>
      <p:sp>
        <p:nvSpPr>
          <p:cNvPr id="10" name="TextBox 10"/>
          <p:cNvSpPr txBox="1"/>
          <p:nvPr/>
        </p:nvSpPr>
        <p:spPr>
          <a:xfrm>
            <a:off x="4553712" y="2103120"/>
            <a:ext cx="3099816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Automated judge scores and human annotation scores can be reviewed by metric, source, run, and variant.</a:t>
            </a:r>
            <a:endParaRPr lang="en-US"/>
          </a:p>
        </p:txBody>
      </p:sp>
      <p:sp>
        <p:nvSpPr>
          <p:cNvPr id="11" name="Box 11"/>
          <p:cNvSpPr/>
          <p:nvPr/>
        </p:nvSpPr>
        <p:spPr>
          <a:xfrm>
            <a:off x="8092440" y="1600200"/>
            <a:ext cx="3429000" cy="1737358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6A4C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257032" y="1737360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6A4C93"/>
                </a:solidFill>
                <a:latin typeface="Aptos"/>
              </a:rPr>
              <a:t>Prompt visibility</a:t>
            </a:r>
            <a:endParaRPr lang="en-US" sz="1500"/>
          </a:p>
        </p:txBody>
      </p:sp>
      <p:sp>
        <p:nvSpPr>
          <p:cNvPr id="13" name="TextBox 13"/>
          <p:cNvSpPr txBox="1"/>
          <p:nvPr/>
        </p:nvSpPr>
        <p:spPr>
          <a:xfrm>
            <a:off x="8257032" y="2103120"/>
            <a:ext cx="3099816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Synced prompts make reviewed prompt versions visible without moving source of truth out of Git.</a:t>
            </a:r>
            <a:endParaRPr lang="en-US" dirty="0"/>
          </a:p>
        </p:txBody>
      </p:sp>
      <p:sp>
        <p:nvSpPr>
          <p:cNvPr id="14" name="Box 14"/>
          <p:cNvSpPr/>
          <p:nvPr/>
        </p:nvSpPr>
        <p:spPr>
          <a:xfrm>
            <a:off x="2560320" y="3520439"/>
            <a:ext cx="3429000" cy="1737359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C46A1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724912" y="3657600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C46A1A"/>
                </a:solidFill>
                <a:latin typeface="Aptos"/>
              </a:rPr>
              <a:t>Human queues</a:t>
            </a:r>
            <a:endParaRPr lang="en-US" sz="1500"/>
          </a:p>
        </p:txBody>
      </p:sp>
      <p:sp>
        <p:nvSpPr>
          <p:cNvPr id="16" name="TextBox 16"/>
          <p:cNvSpPr txBox="1"/>
          <p:nvPr/>
        </p:nvSpPr>
        <p:spPr>
          <a:xfrm>
            <a:off x="2724912" y="4023360"/>
            <a:ext cx="3099816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Reviewers work in Langfuse while the harness selects samples and attaches the right score configs.</a:t>
            </a:r>
            <a:endParaRPr lang="en-US"/>
          </a:p>
        </p:txBody>
      </p:sp>
      <p:sp>
        <p:nvSpPr>
          <p:cNvPr id="17" name="Box 17"/>
          <p:cNvSpPr/>
          <p:nvPr/>
        </p:nvSpPr>
        <p:spPr>
          <a:xfrm>
            <a:off x="6263640" y="3520440"/>
            <a:ext cx="3429000" cy="1737358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428232" y="3657600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008C95"/>
                </a:solidFill>
                <a:latin typeface="Aptos"/>
              </a:rPr>
              <a:t>Less custom UI</a:t>
            </a:r>
            <a:endParaRPr lang="en-US" sz="1500"/>
          </a:p>
        </p:txBody>
      </p:sp>
      <p:sp>
        <p:nvSpPr>
          <p:cNvPr id="19" name="TextBox 19"/>
          <p:cNvSpPr txBox="1"/>
          <p:nvPr/>
        </p:nvSpPr>
        <p:spPr>
          <a:xfrm>
            <a:off x="6428232" y="4023360"/>
            <a:ext cx="3099816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The project avoids building dashboards, trace browsers, annotation screens, and score views from scratch.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Langfuse Artifacts We Use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The evaluation vocabulary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68680" y="1463040"/>
            <a:ext cx="10607040" cy="4526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6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111827"/>
                </a:solidFill>
                <a:latin typeface="Aptos"/>
              </a:rPr>
              <a:t>Prompts</a:t>
            </a:r>
            <a:r>
              <a:rPr dirty="0">
                <a:solidFill>
                  <a:srgbClr val="111827"/>
                </a:solidFill>
                <a:latin typeface="Aptos"/>
              </a:rPr>
              <a:t>: </a:t>
            </a:r>
            <a:br>
              <a:rPr lang="en-US" dirty="0">
                <a:solidFill>
                  <a:srgbClr val="111827"/>
                </a:solidFill>
                <a:latin typeface="Aptos"/>
              </a:rPr>
            </a:br>
            <a:r>
              <a:rPr lang="en-US" dirty="0">
                <a:solidFill>
                  <a:srgbClr val="111827"/>
                </a:solidFill>
                <a:latin typeface="Aptos"/>
              </a:rPr>
              <a:t>	</a:t>
            </a:r>
            <a:r>
              <a:rPr dirty="0">
                <a:solidFill>
                  <a:srgbClr val="111827"/>
                </a:solidFill>
                <a:latin typeface="Aptos"/>
              </a:rPr>
              <a:t>synced </a:t>
            </a:r>
            <a:r>
              <a:rPr b="1" dirty="0">
                <a:solidFill>
                  <a:srgbClr val="111827"/>
                </a:solidFill>
                <a:latin typeface="Aptos"/>
              </a:rPr>
              <a:t>task</a:t>
            </a:r>
            <a:r>
              <a:rPr dirty="0">
                <a:solidFill>
                  <a:srgbClr val="111827"/>
                </a:solidFill>
                <a:latin typeface="Aptos"/>
              </a:rPr>
              <a:t> and </a:t>
            </a:r>
            <a:r>
              <a:rPr b="1" dirty="0">
                <a:solidFill>
                  <a:srgbClr val="111827"/>
                </a:solidFill>
                <a:latin typeface="Aptos"/>
              </a:rPr>
              <a:t>judge</a:t>
            </a:r>
            <a:r>
              <a:rPr dirty="0">
                <a:solidFill>
                  <a:srgbClr val="111827"/>
                </a:solidFill>
                <a:latin typeface="Aptos"/>
              </a:rPr>
              <a:t> prompts for visibility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111827"/>
                </a:solidFill>
                <a:latin typeface="Aptos"/>
              </a:rPr>
              <a:t>Datasets</a:t>
            </a:r>
            <a:r>
              <a:rPr dirty="0">
                <a:solidFill>
                  <a:srgbClr val="111827"/>
                </a:solidFill>
                <a:latin typeface="Aptos"/>
              </a:rPr>
              <a:t>: </a:t>
            </a:r>
            <a:br>
              <a:rPr lang="en-US" dirty="0">
                <a:solidFill>
                  <a:srgbClr val="111827"/>
                </a:solidFill>
                <a:latin typeface="Aptos"/>
              </a:rPr>
            </a:br>
            <a:r>
              <a:rPr lang="en-US" dirty="0">
                <a:solidFill>
                  <a:srgbClr val="111827"/>
                </a:solidFill>
                <a:latin typeface="Aptos"/>
              </a:rPr>
              <a:t>	</a:t>
            </a:r>
            <a:r>
              <a:rPr dirty="0">
                <a:solidFill>
                  <a:srgbClr val="111827"/>
                </a:solidFill>
                <a:latin typeface="Aptos"/>
              </a:rPr>
              <a:t>named collections of test inputs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Dataset </a:t>
            </a:r>
            <a:r>
              <a:rPr b="1" dirty="0">
                <a:solidFill>
                  <a:srgbClr val="111827"/>
                </a:solidFill>
                <a:latin typeface="Aptos"/>
              </a:rPr>
              <a:t>runs</a:t>
            </a:r>
            <a:r>
              <a:rPr dirty="0">
                <a:solidFill>
                  <a:srgbClr val="111827"/>
                </a:solidFill>
                <a:latin typeface="Aptos"/>
              </a:rPr>
              <a:t> / </a:t>
            </a:r>
            <a:r>
              <a:rPr b="1" dirty="0">
                <a:solidFill>
                  <a:srgbClr val="111827"/>
                </a:solidFill>
                <a:latin typeface="Aptos"/>
              </a:rPr>
              <a:t>experiments</a:t>
            </a:r>
            <a:r>
              <a:rPr dirty="0">
                <a:solidFill>
                  <a:srgbClr val="111827"/>
                </a:solidFill>
                <a:latin typeface="Aptos"/>
              </a:rPr>
              <a:t>: </a:t>
            </a:r>
            <a:br>
              <a:rPr lang="en-US" dirty="0">
                <a:solidFill>
                  <a:srgbClr val="111827"/>
                </a:solidFill>
                <a:latin typeface="Aptos"/>
              </a:rPr>
            </a:br>
            <a:r>
              <a:rPr lang="en-US" dirty="0">
                <a:solidFill>
                  <a:srgbClr val="111827"/>
                </a:solidFill>
                <a:latin typeface="Aptos"/>
              </a:rPr>
              <a:t>	</a:t>
            </a:r>
            <a:r>
              <a:rPr dirty="0">
                <a:solidFill>
                  <a:srgbClr val="111827"/>
                </a:solidFill>
                <a:latin typeface="Aptos"/>
              </a:rPr>
              <a:t>one execution over a dataset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111827"/>
                </a:solidFill>
                <a:latin typeface="Aptos"/>
              </a:rPr>
              <a:t>Traces</a:t>
            </a:r>
            <a:r>
              <a:rPr dirty="0">
                <a:solidFill>
                  <a:srgbClr val="111827"/>
                </a:solidFill>
                <a:latin typeface="Aptos"/>
              </a:rPr>
              <a:t> and </a:t>
            </a:r>
            <a:r>
              <a:rPr b="1" dirty="0">
                <a:solidFill>
                  <a:srgbClr val="111827"/>
                </a:solidFill>
                <a:latin typeface="Aptos"/>
              </a:rPr>
              <a:t>observations</a:t>
            </a:r>
            <a:r>
              <a:rPr dirty="0">
                <a:solidFill>
                  <a:srgbClr val="111827"/>
                </a:solidFill>
                <a:latin typeface="Aptos"/>
              </a:rPr>
              <a:t>: </a:t>
            </a:r>
            <a:br>
              <a:rPr lang="en-US" dirty="0">
                <a:solidFill>
                  <a:srgbClr val="111827"/>
                </a:solidFill>
                <a:latin typeface="Aptos"/>
              </a:rPr>
            </a:br>
            <a:r>
              <a:rPr lang="en-US" dirty="0">
                <a:solidFill>
                  <a:srgbClr val="111827"/>
                </a:solidFill>
                <a:latin typeface="Aptos"/>
              </a:rPr>
              <a:t>	</a:t>
            </a:r>
            <a:r>
              <a:rPr dirty="0">
                <a:solidFill>
                  <a:srgbClr val="111827"/>
                </a:solidFill>
                <a:latin typeface="Aptos"/>
              </a:rPr>
              <a:t>per-item execution records and model output spans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111827"/>
                </a:solidFill>
                <a:latin typeface="Aptos"/>
              </a:rPr>
              <a:t>Score configs</a:t>
            </a:r>
            <a:r>
              <a:rPr dirty="0">
                <a:solidFill>
                  <a:srgbClr val="111827"/>
                </a:solidFill>
                <a:latin typeface="Aptos"/>
              </a:rPr>
              <a:t>: </a:t>
            </a:r>
            <a:br>
              <a:rPr lang="en-US" dirty="0">
                <a:solidFill>
                  <a:srgbClr val="111827"/>
                </a:solidFill>
                <a:latin typeface="Aptos"/>
              </a:rPr>
            </a:br>
            <a:r>
              <a:rPr lang="en-US" dirty="0">
                <a:solidFill>
                  <a:srgbClr val="111827"/>
                </a:solidFill>
                <a:latin typeface="Aptos"/>
              </a:rPr>
              <a:t>	</a:t>
            </a:r>
            <a:r>
              <a:rPr dirty="0">
                <a:solidFill>
                  <a:srgbClr val="111827"/>
                </a:solidFill>
                <a:latin typeface="Aptos"/>
              </a:rPr>
              <a:t>metric schemas used by judges and humans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111827"/>
                </a:solidFill>
                <a:latin typeface="Aptos"/>
              </a:rPr>
              <a:t>Scores</a:t>
            </a:r>
            <a:r>
              <a:rPr dirty="0">
                <a:solidFill>
                  <a:srgbClr val="111827"/>
                </a:solidFill>
                <a:latin typeface="Aptos"/>
              </a:rPr>
              <a:t>: </a:t>
            </a:r>
            <a:br>
              <a:rPr lang="en-US" dirty="0">
                <a:solidFill>
                  <a:srgbClr val="111827"/>
                </a:solidFill>
                <a:latin typeface="Aptos"/>
              </a:rPr>
            </a:br>
            <a:r>
              <a:rPr lang="en-US" dirty="0">
                <a:solidFill>
                  <a:srgbClr val="111827"/>
                </a:solidFill>
                <a:latin typeface="Aptos"/>
              </a:rPr>
              <a:t>	</a:t>
            </a:r>
            <a:r>
              <a:rPr dirty="0">
                <a:solidFill>
                  <a:srgbClr val="111827"/>
                </a:solidFill>
                <a:latin typeface="Aptos"/>
              </a:rPr>
              <a:t>numeric/categorical evaluation results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111827"/>
                </a:solidFill>
                <a:latin typeface="Aptos"/>
              </a:rPr>
              <a:t>Evaluators</a:t>
            </a:r>
            <a:r>
              <a:rPr dirty="0">
                <a:solidFill>
                  <a:srgbClr val="111827"/>
                </a:solidFill>
                <a:latin typeface="Aptos"/>
              </a:rPr>
              <a:t>: </a:t>
            </a:r>
            <a:br>
              <a:rPr lang="en-US" dirty="0">
                <a:solidFill>
                  <a:srgbClr val="111827"/>
                </a:solidFill>
                <a:latin typeface="Aptos"/>
              </a:rPr>
            </a:br>
            <a:r>
              <a:rPr lang="en-US" dirty="0">
                <a:solidFill>
                  <a:srgbClr val="111827"/>
                </a:solidFill>
                <a:latin typeface="Aptos"/>
              </a:rPr>
              <a:t>	</a:t>
            </a:r>
            <a:r>
              <a:rPr dirty="0">
                <a:solidFill>
                  <a:srgbClr val="111827"/>
                </a:solidFill>
                <a:latin typeface="Aptos"/>
              </a:rPr>
              <a:t>LLM-as-Judge rules that score traces or observations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111827"/>
                </a:solidFill>
                <a:latin typeface="Aptos"/>
              </a:rPr>
              <a:t>Annotation queues</a:t>
            </a:r>
            <a:r>
              <a:rPr dirty="0">
                <a:solidFill>
                  <a:srgbClr val="111827"/>
                </a:solidFill>
                <a:latin typeface="Aptos"/>
              </a:rPr>
              <a:t>: </a:t>
            </a:r>
            <a:br>
              <a:rPr lang="en-US" dirty="0">
                <a:solidFill>
                  <a:srgbClr val="111827"/>
                </a:solidFill>
                <a:latin typeface="Aptos"/>
              </a:rPr>
            </a:br>
            <a:r>
              <a:rPr lang="en-US" dirty="0">
                <a:solidFill>
                  <a:srgbClr val="111827"/>
                </a:solidFill>
                <a:latin typeface="Aptos"/>
              </a:rPr>
              <a:t>	</a:t>
            </a:r>
            <a:r>
              <a:rPr dirty="0">
                <a:solidFill>
                  <a:srgbClr val="111827"/>
                </a:solidFill>
                <a:latin typeface="Aptos"/>
              </a:rPr>
              <a:t>human review worklists </a:t>
            </a:r>
            <a:r>
              <a:rPr sz="1500" dirty="0">
                <a:solidFill>
                  <a:srgbClr val="111827"/>
                </a:solidFill>
                <a:latin typeface="Aptos"/>
              </a:rPr>
              <a:t>tied to score configs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Artifact Relationship Diagram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Repository source of truth, Langfuse system of record for runs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x 5"/>
          <p:cNvSpPr/>
          <p:nvPr/>
        </p:nvSpPr>
        <p:spPr>
          <a:xfrm>
            <a:off x="594360" y="1691640"/>
            <a:ext cx="2971800" cy="237744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1732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58952" y="1828800"/>
            <a:ext cx="26426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17324D"/>
                </a:solidFill>
                <a:latin typeface="Aptos"/>
              </a:rPr>
              <a:t>Repository artifacts</a:t>
            </a:r>
            <a:endParaRPr lang="en-US" sz="1500"/>
          </a:p>
        </p:txBody>
      </p:sp>
      <p:sp>
        <p:nvSpPr>
          <p:cNvPr id="7" name="TextBox 7"/>
          <p:cNvSpPr txBox="1"/>
          <p:nvPr/>
        </p:nvSpPr>
        <p:spPr>
          <a:xfrm>
            <a:off x="758952" y="2194560"/>
            <a:ext cx="2642616" cy="1737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Dataset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Task prompt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Evaluator prompts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Project YAML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Score definitions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Review policy</a:t>
            </a:r>
            <a:endParaRPr lang="en-US" dirty="0"/>
          </a:p>
        </p:txBody>
      </p:sp>
      <p:cxnSp>
        <p:nvCxnSpPr>
          <p:cNvPr id="8" name="Arrow 8"/>
          <p:cNvCxnSpPr/>
          <p:nvPr/>
        </p:nvCxnSpPr>
        <p:spPr>
          <a:xfrm>
            <a:off x="3611880" y="2880360"/>
            <a:ext cx="1097280" cy="0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754880" y="1691640"/>
            <a:ext cx="2423160" cy="2377440"/>
          </a:xfrm>
          <a:prstGeom prst="roundRect">
            <a:avLst/>
          </a:prstGeom>
          <a:solidFill>
            <a:srgbClr val="EAF1FF"/>
          </a:solidFill>
          <a:ln w="16000">
            <a:solidFill>
              <a:srgbClr val="2F6F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919472" y="1828800"/>
            <a:ext cx="209397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F6FED"/>
                </a:solidFill>
                <a:latin typeface="Aptos"/>
              </a:rPr>
              <a:t>sync-all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4919472" y="2194560"/>
            <a:ext cx="2093976" cy="1737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Validate locally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Sync dataset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Sync prompts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Sync scores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Sync judges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Sync queue</a:t>
            </a:r>
            <a:endParaRPr lang="en-US" dirty="0"/>
          </a:p>
        </p:txBody>
      </p:sp>
      <p:cxnSp>
        <p:nvCxnSpPr>
          <p:cNvPr id="12" name="Arrow 12"/>
          <p:cNvCxnSpPr/>
          <p:nvPr/>
        </p:nvCxnSpPr>
        <p:spPr>
          <a:xfrm>
            <a:off x="7223760" y="2880360"/>
            <a:ext cx="1097280" cy="0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sp>
        <p:nvSpPr>
          <p:cNvPr id="13" name="Box 13"/>
          <p:cNvSpPr/>
          <p:nvPr/>
        </p:nvSpPr>
        <p:spPr>
          <a:xfrm>
            <a:off x="8366760" y="1691640"/>
            <a:ext cx="2971800" cy="237744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531352" y="1828800"/>
            <a:ext cx="26426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008C95"/>
                </a:solidFill>
                <a:latin typeface="Aptos"/>
              </a:rPr>
              <a:t>Langfuse artifacts</a:t>
            </a:r>
            <a:endParaRPr lang="en-US" sz="1500"/>
          </a:p>
        </p:txBody>
      </p:sp>
      <p:sp>
        <p:nvSpPr>
          <p:cNvPr id="15" name="TextBox 15"/>
          <p:cNvSpPr txBox="1"/>
          <p:nvPr/>
        </p:nvSpPr>
        <p:spPr>
          <a:xfrm>
            <a:off x="8531352" y="2194560"/>
            <a:ext cx="2642616" cy="1737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Dataset</a:t>
            </a:r>
            <a:br/>
            <a:r>
              <a:rPr dirty="0">
                <a:solidFill>
                  <a:srgbClr val="111827"/>
                </a:solidFill>
                <a:latin typeface="Aptos"/>
              </a:rPr>
              <a:t>Prompts</a:t>
            </a:r>
            <a:br/>
            <a:r>
              <a:rPr dirty="0">
                <a:solidFill>
                  <a:srgbClr val="111827"/>
                </a:solidFill>
                <a:latin typeface="Aptos"/>
              </a:rPr>
              <a:t>Score configs</a:t>
            </a:r>
            <a:br/>
            <a:r>
              <a:rPr dirty="0">
                <a:solidFill>
                  <a:srgbClr val="111827"/>
                </a:solidFill>
                <a:latin typeface="Aptos"/>
              </a:rPr>
              <a:t>Evaluators</a:t>
            </a:r>
            <a:br/>
            <a:r>
              <a:rPr dirty="0">
                <a:solidFill>
                  <a:srgbClr val="111827"/>
                </a:solidFill>
                <a:latin typeface="Aptos"/>
              </a:rPr>
              <a:t>Annotation queue</a:t>
            </a:r>
            <a:endParaRPr lang="en-US"/>
          </a:p>
        </p:txBody>
      </p:sp>
      <p:cxnSp>
        <p:nvCxnSpPr>
          <p:cNvPr id="16" name="Arrow 16"/>
          <p:cNvCxnSpPr/>
          <p:nvPr/>
        </p:nvCxnSpPr>
        <p:spPr>
          <a:xfrm>
            <a:off x="5961888" y="4160520"/>
            <a:ext cx="0" cy="548640"/>
          </a:xfrm>
          <a:prstGeom prst="line">
            <a:avLst/>
          </a:prstGeom>
          <a:ln w="24000">
            <a:solidFill>
              <a:srgbClr val="2E7D32"/>
            </a:solidFill>
            <a:tailEnd type="triangle" w="med" len="med"/>
          </a:ln>
        </p:spPr>
      </p:cxnSp>
      <p:sp>
        <p:nvSpPr>
          <p:cNvPr id="17" name="Box 17"/>
          <p:cNvSpPr/>
          <p:nvPr/>
        </p:nvSpPr>
        <p:spPr>
          <a:xfrm>
            <a:off x="2971800" y="4709160"/>
            <a:ext cx="5989320" cy="1160698"/>
          </a:xfrm>
          <a:prstGeom prst="roundRect">
            <a:avLst/>
          </a:prstGeom>
          <a:solidFill>
            <a:srgbClr val="F0FAF4"/>
          </a:solidFill>
          <a:ln w="16000">
            <a:solidFill>
              <a:srgbClr val="2E7D3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3136392" y="4846320"/>
            <a:ext cx="56601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E7D32"/>
                </a:solidFill>
                <a:latin typeface="Aptos"/>
              </a:rPr>
              <a:t>Experiment runs</a:t>
            </a:r>
            <a:endParaRPr lang="en-US" sz="1500"/>
          </a:p>
        </p:txBody>
      </p:sp>
      <p:sp>
        <p:nvSpPr>
          <p:cNvPr id="19" name="TextBox 19"/>
          <p:cNvSpPr txBox="1"/>
          <p:nvPr/>
        </p:nvSpPr>
        <p:spPr>
          <a:xfrm>
            <a:off x="3136392" y="5212080"/>
            <a:ext cx="5660136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Baseline and candidates create traces, observations, scores, and review items in Langfuse.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Phase 1: Create Project Artifacts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Collect the local inputs that define the evaluation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x 5"/>
          <p:cNvSpPr/>
          <p:nvPr/>
        </p:nvSpPr>
        <p:spPr>
          <a:xfrm>
            <a:off x="371167" y="1645920"/>
            <a:ext cx="2103120" cy="1985624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2F6F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35759" y="1783080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F6FED"/>
                </a:solidFill>
                <a:latin typeface="Aptos"/>
              </a:rPr>
              <a:t>1. Dataset</a:t>
            </a:r>
            <a:endParaRPr lang="en-US" sz="1500" dirty="0"/>
          </a:p>
        </p:txBody>
      </p:sp>
      <p:sp>
        <p:nvSpPr>
          <p:cNvPr id="7" name="TextBox 7"/>
          <p:cNvSpPr txBox="1"/>
          <p:nvPr/>
        </p:nvSpPr>
        <p:spPr>
          <a:xfrm>
            <a:off x="535759" y="2148840"/>
            <a:ext cx="1773936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600" dirty="0">
                <a:solidFill>
                  <a:srgbClr val="111827"/>
                </a:solidFill>
                <a:latin typeface="Aptos"/>
              </a:rPr>
              <a:t>CSV or JSON rows with stable item IDs and input fields.</a:t>
            </a:r>
            <a:endParaRPr lang="en-US" sz="1600" dirty="0"/>
          </a:p>
        </p:txBody>
      </p:sp>
      <p:sp>
        <p:nvSpPr>
          <p:cNvPr id="8" name="Box 8"/>
          <p:cNvSpPr/>
          <p:nvPr/>
        </p:nvSpPr>
        <p:spPr>
          <a:xfrm>
            <a:off x="2638879" y="1646412"/>
            <a:ext cx="2103120" cy="1985625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6A4C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803471" y="1783573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6A4C93"/>
                </a:solidFill>
                <a:latin typeface="Aptos"/>
              </a:rPr>
              <a:t>2. Task prompt</a:t>
            </a:r>
            <a:endParaRPr lang="en-US" sz="1500"/>
          </a:p>
        </p:txBody>
      </p:sp>
      <p:sp>
        <p:nvSpPr>
          <p:cNvPr id="10" name="TextBox 10"/>
          <p:cNvSpPr txBox="1"/>
          <p:nvPr/>
        </p:nvSpPr>
        <p:spPr>
          <a:xfrm>
            <a:off x="2803471" y="2149333"/>
            <a:ext cx="1773936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600" dirty="0">
                <a:solidFill>
                  <a:srgbClr val="111827"/>
                </a:solidFill>
                <a:latin typeface="Aptos"/>
              </a:rPr>
              <a:t>The prompt executed by baseline and candidate models.</a:t>
            </a:r>
            <a:endParaRPr lang="en-US" sz="1600" dirty="0"/>
          </a:p>
        </p:txBody>
      </p:sp>
      <p:sp>
        <p:nvSpPr>
          <p:cNvPr id="11" name="Box 11"/>
          <p:cNvSpPr/>
          <p:nvPr/>
        </p:nvSpPr>
        <p:spPr>
          <a:xfrm>
            <a:off x="4906591" y="1645920"/>
            <a:ext cx="2103120" cy="1985624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C46A1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071183" y="1783080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C46A1A"/>
                </a:solidFill>
                <a:latin typeface="Aptos"/>
              </a:rPr>
              <a:t>3. Eval prompts</a:t>
            </a:r>
            <a:endParaRPr lang="en-US" sz="1500"/>
          </a:p>
        </p:txBody>
      </p:sp>
      <p:sp>
        <p:nvSpPr>
          <p:cNvPr id="13" name="TextBox 13"/>
          <p:cNvSpPr txBox="1"/>
          <p:nvPr/>
        </p:nvSpPr>
        <p:spPr>
          <a:xfrm>
            <a:off x="5071183" y="2148840"/>
            <a:ext cx="1773936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600" dirty="0">
                <a:solidFill>
                  <a:srgbClr val="111827"/>
                </a:solidFill>
                <a:latin typeface="Aptos"/>
              </a:rPr>
              <a:t>Atomic judge prompts for each quality metric.</a:t>
            </a:r>
            <a:endParaRPr lang="en-US" sz="1600" dirty="0"/>
          </a:p>
        </p:txBody>
      </p:sp>
      <p:sp>
        <p:nvSpPr>
          <p:cNvPr id="14" name="Box 14"/>
          <p:cNvSpPr/>
          <p:nvPr/>
        </p:nvSpPr>
        <p:spPr>
          <a:xfrm>
            <a:off x="7174303" y="1626747"/>
            <a:ext cx="2103120" cy="1985624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338895" y="1763907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008C95"/>
                </a:solidFill>
                <a:latin typeface="Aptos"/>
              </a:rPr>
              <a:t>4. Project YAML</a:t>
            </a:r>
            <a:endParaRPr lang="en-US" sz="1500"/>
          </a:p>
        </p:txBody>
      </p:sp>
      <p:sp>
        <p:nvSpPr>
          <p:cNvPr id="16" name="TextBox 16"/>
          <p:cNvSpPr txBox="1"/>
          <p:nvPr/>
        </p:nvSpPr>
        <p:spPr>
          <a:xfrm>
            <a:off x="7338895" y="2129667"/>
            <a:ext cx="1773936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600" dirty="0">
                <a:solidFill>
                  <a:srgbClr val="111827"/>
                </a:solidFill>
                <a:latin typeface="Aptos"/>
              </a:rPr>
              <a:t>Dataset, model configs, candidates, evaluators, review policy.</a:t>
            </a:r>
            <a:endParaRPr lang="en-US" sz="1600" dirty="0"/>
          </a:p>
        </p:txBody>
      </p:sp>
      <p:sp>
        <p:nvSpPr>
          <p:cNvPr id="17" name="Box 17"/>
          <p:cNvSpPr/>
          <p:nvPr/>
        </p:nvSpPr>
        <p:spPr>
          <a:xfrm>
            <a:off x="9442015" y="1626748"/>
            <a:ext cx="1987985" cy="1985623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2E7D3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9633204" y="1828800"/>
            <a:ext cx="10881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E7D32"/>
                </a:solidFill>
                <a:latin typeface="Aptos"/>
              </a:rPr>
              <a:t>5. Scores</a:t>
            </a:r>
            <a:endParaRPr lang="en-US" sz="1500" dirty="0"/>
          </a:p>
        </p:txBody>
      </p:sp>
      <p:sp>
        <p:nvSpPr>
          <p:cNvPr id="19" name="TextBox 19"/>
          <p:cNvSpPr txBox="1"/>
          <p:nvPr/>
        </p:nvSpPr>
        <p:spPr>
          <a:xfrm>
            <a:off x="9643871" y="2069690"/>
            <a:ext cx="1673058" cy="135931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600" dirty="0">
                <a:solidFill>
                  <a:srgbClr val="111827"/>
                </a:solidFill>
                <a:latin typeface="Aptos"/>
              </a:rPr>
              <a:t>Metric names and score config definitions used by judges and humans.</a:t>
            </a:r>
            <a:endParaRPr lang="en-US" sz="1600" dirty="0"/>
          </a:p>
        </p:txBody>
      </p:sp>
      <p:cxnSp>
        <p:nvCxnSpPr>
          <p:cNvPr id="20" name="Arrow 20"/>
          <p:cNvCxnSpPr/>
          <p:nvPr/>
        </p:nvCxnSpPr>
        <p:spPr>
          <a:xfrm>
            <a:off x="5994728" y="4019919"/>
            <a:ext cx="0" cy="502920"/>
          </a:xfrm>
          <a:prstGeom prst="line">
            <a:avLst/>
          </a:prstGeom>
          <a:ln w="24000">
            <a:solidFill>
              <a:srgbClr val="5E6A75"/>
            </a:solidFill>
            <a:tailEnd type="triangle" w="med" len="med"/>
          </a:ln>
        </p:spPr>
      </p:cxnSp>
      <p:sp>
        <p:nvSpPr>
          <p:cNvPr id="21" name="Box 21"/>
          <p:cNvSpPr/>
          <p:nvPr/>
        </p:nvSpPr>
        <p:spPr>
          <a:xfrm>
            <a:off x="2004060" y="5029199"/>
            <a:ext cx="8183879" cy="1263445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1732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168652" y="5166360"/>
            <a:ext cx="7854695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17324D"/>
                </a:solidFill>
                <a:latin typeface="Aptos"/>
              </a:rPr>
              <a:t>Output of Phase 1</a:t>
            </a:r>
            <a:endParaRPr lang="en-US" sz="1500"/>
          </a:p>
        </p:txBody>
      </p:sp>
      <p:sp>
        <p:nvSpPr>
          <p:cNvPr id="23" name="TextBox 23"/>
          <p:cNvSpPr txBox="1"/>
          <p:nvPr/>
        </p:nvSpPr>
        <p:spPr>
          <a:xfrm>
            <a:off x="2168652" y="5532120"/>
            <a:ext cx="7854695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A complete harness project that can be validated locally before touching Langfuse.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7BD959-0526-EDCE-DA68-5B6E67D50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426" y="1718187"/>
            <a:ext cx="285790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Phase 2: Sync Artifacts To Langfuse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Prepare the Langfuse project before running experiments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77240" y="1508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600" b="1" dirty="0">
                <a:solidFill>
                  <a:srgbClr val="17324D"/>
                </a:solidFill>
                <a:latin typeface="Aptos"/>
              </a:rPr>
              <a:t>Recommended command flow</a:t>
            </a:r>
            <a:endParaRPr lang="en-US" sz="1600"/>
          </a:p>
        </p:txBody>
      </p:sp>
      <p:sp>
        <p:nvSpPr>
          <p:cNvPr id="6" name="TextBox 6"/>
          <p:cNvSpPr txBox="1"/>
          <p:nvPr/>
        </p:nvSpPr>
        <p:spPr>
          <a:xfrm>
            <a:off x="868680" y="1920240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validate --project ...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sync-all --project ... --dry-run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sync-all --project ...</a:t>
            </a:r>
            <a:endParaRPr lang="en-US" dirty="0"/>
          </a:p>
        </p:txBody>
      </p:sp>
      <p:sp>
        <p:nvSpPr>
          <p:cNvPr id="7" name="Box 7"/>
          <p:cNvSpPr/>
          <p:nvPr/>
        </p:nvSpPr>
        <p:spPr>
          <a:xfrm>
            <a:off x="4800600" y="1737360"/>
            <a:ext cx="2560320" cy="2148840"/>
          </a:xfrm>
          <a:prstGeom prst="roundRect">
            <a:avLst/>
          </a:prstGeom>
          <a:solidFill>
            <a:srgbClr val="EAF1FF"/>
          </a:solidFill>
          <a:ln w="16000">
            <a:solidFill>
              <a:srgbClr val="2F6F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965192" y="1874520"/>
            <a:ext cx="22311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F6FED"/>
                </a:solidFill>
                <a:latin typeface="Aptos"/>
              </a:rPr>
              <a:t>sync-all phases</a:t>
            </a:r>
            <a:endParaRPr lang="en-US" sz="1500"/>
          </a:p>
        </p:txBody>
      </p:sp>
      <p:sp>
        <p:nvSpPr>
          <p:cNvPr id="9" name="TextBox 9"/>
          <p:cNvSpPr txBox="1"/>
          <p:nvPr/>
        </p:nvSpPr>
        <p:spPr>
          <a:xfrm>
            <a:off x="4965192" y="2126570"/>
            <a:ext cx="2231136" cy="1508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Dataset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Prompts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Score configs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LLM judge evaluators</a:t>
            </a:r>
            <a:br>
              <a:rPr dirty="0"/>
            </a:br>
            <a:r>
              <a:rPr dirty="0">
                <a:solidFill>
                  <a:srgbClr val="111827"/>
                </a:solidFill>
                <a:latin typeface="Aptos"/>
              </a:rPr>
              <a:t>Annotation queue</a:t>
            </a:r>
            <a:endParaRPr lang="en-US" dirty="0"/>
          </a:p>
        </p:txBody>
      </p:sp>
      <p:cxnSp>
        <p:nvCxnSpPr>
          <p:cNvPr id="10" name="Arrow 10"/>
          <p:cNvCxnSpPr/>
          <p:nvPr/>
        </p:nvCxnSpPr>
        <p:spPr>
          <a:xfrm>
            <a:off x="7498079" y="2788920"/>
            <a:ext cx="868681" cy="0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8458200" y="1920240"/>
            <a:ext cx="2743200" cy="1783080"/>
          </a:xfrm>
          <a:prstGeom prst="roundRect">
            <a:avLst/>
          </a:prstGeom>
          <a:solidFill>
            <a:srgbClr val="F0FAF4"/>
          </a:solidFill>
          <a:ln w="16000">
            <a:solidFill>
              <a:srgbClr val="2E7D3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622792" y="2057400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E7D32"/>
                </a:solidFill>
                <a:latin typeface="Aptos"/>
              </a:rPr>
              <a:t>Result</a:t>
            </a:r>
            <a:endParaRPr lang="en-US" sz="1500"/>
          </a:p>
        </p:txBody>
      </p:sp>
      <p:sp>
        <p:nvSpPr>
          <p:cNvPr id="13" name="TextBox 13"/>
          <p:cNvSpPr txBox="1"/>
          <p:nvPr/>
        </p:nvSpPr>
        <p:spPr>
          <a:xfrm>
            <a:off x="8622792" y="2309450"/>
            <a:ext cx="2414016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Langfuse has the resources needed for experiments, scoring, and human review.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612648" y="5989320"/>
            <a:ext cx="10241280" cy="502920"/>
          </a:xfrm>
          <a:prstGeom prst="roundRect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/>
          <a:lstStyle/>
          <a:p>
            <a:pPr marL="0" indent="0" algn="l">
              <a:buNone/>
            </a:pPr>
            <a:r>
              <a:rPr sz="1600" dirty="0">
                <a:solidFill>
                  <a:srgbClr val="5E6A75"/>
                </a:solidFill>
                <a:latin typeface="Aptos"/>
              </a:rPr>
              <a:t>Independent sync commands remain available when one phase needs to be rerun or diagnosed.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Phase 3: Run Experiments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100" dirty="0">
                <a:solidFill>
                  <a:srgbClr val="5E6A75"/>
                </a:solidFill>
                <a:latin typeface="Aptos"/>
              </a:rPr>
              <a:t>Generate outputs, traces, scores, and review items</a:t>
            </a:r>
            <a:endParaRPr lang="en-US" sz="11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x 5"/>
          <p:cNvSpPr/>
          <p:nvPr/>
        </p:nvSpPr>
        <p:spPr>
          <a:xfrm>
            <a:off x="777240" y="1737359"/>
            <a:ext cx="2514600" cy="1330305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1732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41832" y="1874520"/>
            <a:ext cx="21854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17324D"/>
                </a:solidFill>
                <a:latin typeface="Aptos"/>
              </a:rPr>
              <a:t>Baseline run</a:t>
            </a:r>
            <a:endParaRPr lang="en-US" sz="1500"/>
          </a:p>
        </p:txBody>
      </p:sp>
      <p:sp>
        <p:nvSpPr>
          <p:cNvPr id="7" name="TextBox 7"/>
          <p:cNvSpPr txBox="1"/>
          <p:nvPr/>
        </p:nvSpPr>
        <p:spPr>
          <a:xfrm>
            <a:off x="941832" y="2157983"/>
            <a:ext cx="2185416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Comparison anchor over the project dataset.</a:t>
            </a:r>
            <a:endParaRPr lang="en-US" dirty="0"/>
          </a:p>
        </p:txBody>
      </p:sp>
      <p:cxnSp>
        <p:nvCxnSpPr>
          <p:cNvPr id="8" name="Arrow 8"/>
          <p:cNvCxnSpPr>
            <a:cxnSpLocks/>
          </p:cNvCxnSpPr>
          <p:nvPr/>
        </p:nvCxnSpPr>
        <p:spPr>
          <a:xfrm>
            <a:off x="3383280" y="2331720"/>
            <a:ext cx="736436" cy="0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cxnSp>
        <p:nvCxnSpPr>
          <p:cNvPr id="12" name="Arrow 12"/>
          <p:cNvCxnSpPr/>
          <p:nvPr/>
        </p:nvCxnSpPr>
        <p:spPr>
          <a:xfrm>
            <a:off x="6995160" y="2331720"/>
            <a:ext cx="914400" cy="0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sp>
        <p:nvSpPr>
          <p:cNvPr id="13" name="Box 13"/>
          <p:cNvSpPr/>
          <p:nvPr/>
        </p:nvSpPr>
        <p:spPr>
          <a:xfrm>
            <a:off x="8001000" y="1737360"/>
            <a:ext cx="3063240" cy="1330304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165592" y="1874520"/>
            <a:ext cx="273405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008C95"/>
                </a:solidFill>
                <a:latin typeface="Aptos"/>
              </a:rPr>
              <a:t>Langfuse traces</a:t>
            </a:r>
            <a:endParaRPr lang="en-US" sz="1500"/>
          </a:p>
        </p:txBody>
      </p:sp>
      <p:sp>
        <p:nvSpPr>
          <p:cNvPr id="15" name="TextBox 15"/>
          <p:cNvSpPr txBox="1"/>
          <p:nvPr/>
        </p:nvSpPr>
        <p:spPr>
          <a:xfrm>
            <a:off x="8165592" y="2128389"/>
            <a:ext cx="2734056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One trace per dataset item with model output observation metadata.</a:t>
            </a:r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4868CD-C379-337A-EF93-4B33725880CB}"/>
              </a:ext>
            </a:extLst>
          </p:cNvPr>
          <p:cNvGrpSpPr/>
          <p:nvPr/>
        </p:nvGrpSpPr>
        <p:grpSpPr>
          <a:xfrm>
            <a:off x="4245963" y="3840536"/>
            <a:ext cx="3063240" cy="1494602"/>
            <a:chOff x="4245963" y="3840536"/>
            <a:chExt cx="3063240" cy="1494602"/>
          </a:xfrm>
        </p:grpSpPr>
        <p:sp>
          <p:nvSpPr>
            <p:cNvPr id="16" name="Box 16"/>
            <p:cNvSpPr/>
            <p:nvPr/>
          </p:nvSpPr>
          <p:spPr>
            <a:xfrm>
              <a:off x="4245963" y="3840536"/>
              <a:ext cx="3063240" cy="1494602"/>
            </a:xfrm>
            <a:prstGeom prst="roundRect">
              <a:avLst/>
            </a:prstGeom>
            <a:solidFill>
              <a:srgbClr val="FFF7ED"/>
            </a:solidFill>
            <a:ln w="16000">
              <a:solidFill>
                <a:srgbClr val="C46A1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0555" y="3977696"/>
              <a:ext cx="263337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C46A1A"/>
                  </a:solidFill>
                  <a:latin typeface="Aptos"/>
                </a:rPr>
                <a:t>R</a:t>
              </a:r>
              <a:r>
                <a:rPr sz="1500" b="1" dirty="0">
                  <a:solidFill>
                    <a:srgbClr val="C46A1A"/>
                  </a:solidFill>
                  <a:latin typeface="Aptos"/>
                </a:rPr>
                <a:t>eview selection</a:t>
              </a:r>
              <a:endParaRPr lang="en-US" sz="150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0555" y="4343456"/>
              <a:ext cx="2816008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11827"/>
                  </a:solidFill>
                  <a:latin typeface="Aptos"/>
                </a:rPr>
                <a:t>R</a:t>
              </a:r>
              <a:r>
                <a:rPr dirty="0">
                  <a:solidFill>
                    <a:srgbClr val="111827"/>
                  </a:solidFill>
                  <a:latin typeface="Aptos"/>
                </a:rPr>
                <a:t>un queues a deduped sample for manual review</a:t>
              </a:r>
              <a:r>
                <a:rPr lang="en-US" dirty="0">
                  <a:solidFill>
                    <a:srgbClr val="111827"/>
                  </a:solidFill>
                  <a:latin typeface="Aptos"/>
                </a:rPr>
                <a:t>.</a:t>
              </a:r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B2C839-3B11-7BFE-48B0-3B965AF7F183}"/>
              </a:ext>
            </a:extLst>
          </p:cNvPr>
          <p:cNvGrpSpPr/>
          <p:nvPr/>
        </p:nvGrpSpPr>
        <p:grpSpPr>
          <a:xfrm>
            <a:off x="594360" y="5532716"/>
            <a:ext cx="10428781" cy="1113795"/>
            <a:chOff x="6096000" y="4849762"/>
            <a:chExt cx="4251960" cy="1467169"/>
          </a:xfrm>
        </p:grpSpPr>
        <p:sp>
          <p:nvSpPr>
            <p:cNvPr id="19" name="Box 19"/>
            <p:cNvSpPr/>
            <p:nvPr/>
          </p:nvSpPr>
          <p:spPr>
            <a:xfrm>
              <a:off x="6096000" y="4849762"/>
              <a:ext cx="4251960" cy="1467169"/>
            </a:xfrm>
            <a:prstGeom prst="roundRect">
              <a:avLst/>
            </a:prstGeom>
            <a:solidFill>
              <a:srgbClr val="F0FAF4"/>
            </a:solidFill>
            <a:ln w="16000">
              <a:solidFill>
                <a:srgbClr val="2E7D32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60592" y="4986922"/>
              <a:ext cx="392277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lstStyle/>
            <a:p>
              <a:pPr marL="0" indent="0" algn="l">
                <a:buNone/>
              </a:pPr>
              <a:r>
                <a:rPr sz="1500" b="1" dirty="0">
                  <a:solidFill>
                    <a:srgbClr val="2E7D32"/>
                  </a:solidFill>
                  <a:latin typeface="Aptos"/>
                </a:rPr>
                <a:t>Score comparison</a:t>
              </a:r>
              <a:endParaRPr lang="en-US" sz="150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60592" y="5352682"/>
              <a:ext cx="3922776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lstStyle/>
            <a:p>
              <a:pPr marL="0" indent="0" algn="l">
                <a:buNone/>
              </a:pPr>
              <a:r>
                <a:rPr dirty="0">
                  <a:solidFill>
                    <a:srgbClr val="111827"/>
                  </a:solidFill>
                  <a:latin typeface="Aptos"/>
                </a:rPr>
                <a:t>LLM judge scores and human annotation scores can be reviewed together by metric and run.</a:t>
              </a:r>
              <a:endParaRPr lang="en-US" dirty="0"/>
            </a:p>
          </p:txBody>
        </p:sp>
      </p:grpSp>
      <p:sp>
        <p:nvSpPr>
          <p:cNvPr id="23" name="Box 9">
            <a:extLst>
              <a:ext uri="{FF2B5EF4-FFF2-40B4-BE49-F238E27FC236}">
                <a16:creationId xmlns:a16="http://schemas.microsoft.com/office/drawing/2014/main" id="{B1FAE81D-0986-AA5A-610E-9C9777E38C53}"/>
              </a:ext>
            </a:extLst>
          </p:cNvPr>
          <p:cNvSpPr/>
          <p:nvPr/>
        </p:nvSpPr>
        <p:spPr>
          <a:xfrm>
            <a:off x="4529328" y="2098696"/>
            <a:ext cx="2514600" cy="1330304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6A4C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9">
            <a:extLst>
              <a:ext uri="{FF2B5EF4-FFF2-40B4-BE49-F238E27FC236}">
                <a16:creationId xmlns:a16="http://schemas.microsoft.com/office/drawing/2014/main" id="{7EF5FED3-1962-CE68-4CDD-E740C60745AB}"/>
              </a:ext>
            </a:extLst>
          </p:cNvPr>
          <p:cNvSpPr/>
          <p:nvPr/>
        </p:nvSpPr>
        <p:spPr>
          <a:xfrm>
            <a:off x="4376928" y="1946296"/>
            <a:ext cx="2514600" cy="1330304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6A4C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Box 9"/>
          <p:cNvSpPr/>
          <p:nvPr/>
        </p:nvSpPr>
        <p:spPr>
          <a:xfrm>
            <a:off x="4224528" y="1793896"/>
            <a:ext cx="2514600" cy="1330304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6A4C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553712" y="1874520"/>
            <a:ext cx="21854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6A4C93"/>
                </a:solidFill>
                <a:latin typeface="Aptos"/>
              </a:rPr>
              <a:t>Candidate run</a:t>
            </a:r>
            <a:r>
              <a:rPr lang="en-US" sz="1500" b="1" dirty="0">
                <a:solidFill>
                  <a:srgbClr val="6A4C93"/>
                </a:solidFill>
                <a:latin typeface="Aptos"/>
              </a:rPr>
              <a:t>s</a:t>
            </a:r>
            <a:endParaRPr lang="en-US" sz="1500" dirty="0"/>
          </a:p>
        </p:txBody>
      </p:sp>
      <p:sp>
        <p:nvSpPr>
          <p:cNvPr id="11" name="TextBox 11"/>
          <p:cNvSpPr txBox="1"/>
          <p:nvPr/>
        </p:nvSpPr>
        <p:spPr>
          <a:xfrm>
            <a:off x="4553712" y="2128389"/>
            <a:ext cx="2185416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Prompt, model, parameter, or mixed variant.</a:t>
            </a:r>
            <a:endParaRPr lang="en-US" dirty="0"/>
          </a:p>
        </p:txBody>
      </p:sp>
      <p:cxnSp>
        <p:nvCxnSpPr>
          <p:cNvPr id="25" name="Arrow 12">
            <a:extLst>
              <a:ext uri="{FF2B5EF4-FFF2-40B4-BE49-F238E27FC236}">
                <a16:creationId xmlns:a16="http://schemas.microsoft.com/office/drawing/2014/main" id="{AAC4E20F-884A-2CD5-78DD-75DA0E939406}"/>
              </a:ext>
            </a:extLst>
          </p:cNvPr>
          <p:cNvCxnSpPr>
            <a:cxnSpLocks/>
            <a:stCxn id="13" idx="2"/>
            <a:endCxn id="27" idx="0"/>
          </p:cNvCxnSpPr>
          <p:nvPr/>
        </p:nvCxnSpPr>
        <p:spPr>
          <a:xfrm>
            <a:off x="9532620" y="3067664"/>
            <a:ext cx="8061" cy="772872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BFD633A-2587-CA40-1E15-063EC74B136B}"/>
              </a:ext>
            </a:extLst>
          </p:cNvPr>
          <p:cNvGrpSpPr/>
          <p:nvPr/>
        </p:nvGrpSpPr>
        <p:grpSpPr>
          <a:xfrm>
            <a:off x="8009061" y="3840536"/>
            <a:ext cx="3063240" cy="1494602"/>
            <a:chOff x="8018893" y="3840536"/>
            <a:chExt cx="3063240" cy="1494602"/>
          </a:xfrm>
        </p:grpSpPr>
        <p:sp>
          <p:nvSpPr>
            <p:cNvPr id="27" name="Box 13">
              <a:extLst>
                <a:ext uri="{FF2B5EF4-FFF2-40B4-BE49-F238E27FC236}">
                  <a16:creationId xmlns:a16="http://schemas.microsoft.com/office/drawing/2014/main" id="{8EAD952A-DDE8-8B58-EB5A-0E70AC499B6C}"/>
                </a:ext>
              </a:extLst>
            </p:cNvPr>
            <p:cNvSpPr/>
            <p:nvPr/>
          </p:nvSpPr>
          <p:spPr>
            <a:xfrm>
              <a:off x="8018893" y="3840536"/>
              <a:ext cx="3063240" cy="1494602"/>
            </a:xfrm>
            <a:prstGeom prst="roundRect">
              <a:avLst/>
            </a:prstGeom>
            <a:solidFill>
              <a:srgbClr val="F6F8FA"/>
            </a:solidFill>
            <a:ln w="16000">
              <a:solidFill>
                <a:srgbClr val="008C95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B11170BC-69C4-F310-5083-0BC7C37238E1}"/>
                </a:ext>
              </a:extLst>
            </p:cNvPr>
            <p:cNvSpPr txBox="1"/>
            <p:nvPr/>
          </p:nvSpPr>
          <p:spPr>
            <a:xfrm>
              <a:off x="8183485" y="3977696"/>
              <a:ext cx="27340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lstStyle/>
            <a:p>
              <a:pPr marL="0" indent="0" algn="l">
                <a:buNone/>
              </a:pPr>
              <a:r>
                <a:rPr sz="1500" b="1" dirty="0" err="1">
                  <a:solidFill>
                    <a:srgbClr val="008C95"/>
                  </a:solidFill>
                  <a:latin typeface="Aptos"/>
                </a:rPr>
                <a:t>Langfuse</a:t>
              </a:r>
              <a:r>
                <a:rPr sz="1500" b="1" dirty="0">
                  <a:solidFill>
                    <a:srgbClr val="008C95"/>
                  </a:solidFill>
                  <a:latin typeface="Aptos"/>
                </a:rPr>
                <a:t> </a:t>
              </a:r>
              <a:r>
                <a:rPr lang="en-US" sz="1500" b="1" dirty="0">
                  <a:solidFill>
                    <a:srgbClr val="008C95"/>
                  </a:solidFill>
                  <a:latin typeface="Aptos"/>
                </a:rPr>
                <a:t>Evaluators</a:t>
              </a:r>
              <a:endParaRPr lang="en-US" sz="1500" dirty="0"/>
            </a:p>
          </p:txBody>
        </p:sp>
        <p:sp>
          <p:nvSpPr>
            <p:cNvPr id="30" name="TextBox 15">
              <a:extLst>
                <a:ext uri="{FF2B5EF4-FFF2-40B4-BE49-F238E27FC236}">
                  <a16:creationId xmlns:a16="http://schemas.microsoft.com/office/drawing/2014/main" id="{4F8F6CD6-6F75-6B4B-2EDF-A05CEFE725A8}"/>
                </a:ext>
              </a:extLst>
            </p:cNvPr>
            <p:cNvSpPr txBox="1"/>
            <p:nvPr/>
          </p:nvSpPr>
          <p:spPr>
            <a:xfrm>
              <a:off x="8183485" y="4212934"/>
              <a:ext cx="2734056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11827"/>
                  </a:solidFill>
                  <a:latin typeface="Aptos"/>
                </a:rPr>
                <a:t>Configured LLM-as-Judges automatically evaluate traces</a:t>
              </a:r>
              <a:endParaRPr lang="en-US" dirty="0"/>
            </a:p>
          </p:txBody>
        </p:sp>
      </p:grpSp>
      <p:cxnSp>
        <p:nvCxnSpPr>
          <p:cNvPr id="31" name="Arrow 12">
            <a:extLst>
              <a:ext uri="{FF2B5EF4-FFF2-40B4-BE49-F238E27FC236}">
                <a16:creationId xmlns:a16="http://schemas.microsoft.com/office/drawing/2014/main" id="{4B465484-536A-4E6A-EAC7-60B9CDF11727}"/>
              </a:ext>
            </a:extLst>
          </p:cNvPr>
          <p:cNvCxnSpPr>
            <a:cxnSpLocks/>
          </p:cNvCxnSpPr>
          <p:nvPr/>
        </p:nvCxnSpPr>
        <p:spPr>
          <a:xfrm flipH="1">
            <a:off x="5624248" y="3443526"/>
            <a:ext cx="9980" cy="372398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cxnSp>
        <p:nvCxnSpPr>
          <p:cNvPr id="40" name="Arrow 8">
            <a:extLst>
              <a:ext uri="{FF2B5EF4-FFF2-40B4-BE49-F238E27FC236}">
                <a16:creationId xmlns:a16="http://schemas.microsoft.com/office/drawing/2014/main" id="{98D7283B-3482-0C8D-3C4E-31BFD6402E3D}"/>
              </a:ext>
            </a:extLst>
          </p:cNvPr>
          <p:cNvCxnSpPr>
            <a:cxnSpLocks/>
          </p:cNvCxnSpPr>
          <p:nvPr/>
        </p:nvCxnSpPr>
        <p:spPr>
          <a:xfrm>
            <a:off x="3285154" y="3124200"/>
            <a:ext cx="932688" cy="756649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cxnSp>
        <p:nvCxnSpPr>
          <p:cNvPr id="42" name="Arrow 8">
            <a:extLst>
              <a:ext uri="{FF2B5EF4-FFF2-40B4-BE49-F238E27FC236}">
                <a16:creationId xmlns:a16="http://schemas.microsoft.com/office/drawing/2014/main" id="{FE050A18-2D02-BA20-6496-DD24A771D343}"/>
              </a:ext>
            </a:extLst>
          </p:cNvPr>
          <p:cNvCxnSpPr>
            <a:cxnSpLocks/>
          </p:cNvCxnSpPr>
          <p:nvPr/>
        </p:nvCxnSpPr>
        <p:spPr>
          <a:xfrm>
            <a:off x="8809703" y="1550453"/>
            <a:ext cx="722917" cy="167597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9014055-E937-DCBF-0E0A-3C2CD2ED4F65}"/>
              </a:ext>
            </a:extLst>
          </p:cNvPr>
          <p:cNvCxnSpPr>
            <a:cxnSpLocks/>
          </p:cNvCxnSpPr>
          <p:nvPr/>
        </p:nvCxnSpPr>
        <p:spPr>
          <a:xfrm>
            <a:off x="3382298" y="1550453"/>
            <a:ext cx="542740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E3367F-659D-0C1F-C295-27B3F88C1C14}"/>
              </a:ext>
            </a:extLst>
          </p:cNvPr>
          <p:cNvCxnSpPr>
            <a:cxnSpLocks/>
          </p:cNvCxnSpPr>
          <p:nvPr/>
        </p:nvCxnSpPr>
        <p:spPr>
          <a:xfrm flipV="1">
            <a:off x="2969342" y="1550453"/>
            <a:ext cx="412956" cy="18690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Demo</a:t>
            </a:r>
            <a:endParaRPr lang="en-US" sz="2600" dirty="0"/>
          </a:p>
        </p:txBody>
      </p:sp>
      <p:sp>
        <p:nvSpPr>
          <p:cNvPr id="3" name="TextBox 3"/>
          <p:cNvSpPr txBox="1"/>
          <p:nvPr/>
        </p:nvSpPr>
        <p:spPr>
          <a:xfrm>
            <a:off x="612648" y="8686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x 5"/>
          <p:cNvSpPr/>
          <p:nvPr/>
        </p:nvSpPr>
        <p:spPr>
          <a:xfrm>
            <a:off x="777240" y="1600199"/>
            <a:ext cx="3246120" cy="178308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6A4C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41832" y="1737360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6A4C93"/>
                </a:solidFill>
                <a:latin typeface="Aptos"/>
              </a:rPr>
              <a:t>1. LLM-as-Judge</a:t>
            </a:r>
            <a:endParaRPr lang="en-US" sz="1500"/>
          </a:p>
        </p:txBody>
      </p:sp>
      <p:sp>
        <p:nvSpPr>
          <p:cNvPr id="7" name="TextBox 7"/>
          <p:cNvSpPr txBox="1"/>
          <p:nvPr/>
        </p:nvSpPr>
        <p:spPr>
          <a:xfrm>
            <a:off x="941832" y="1984248"/>
            <a:ext cx="2916936" cy="8686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Open an evaluator and show how it maps trace/observation fields into a metric score.</a:t>
            </a:r>
            <a:endParaRPr lang="en-US" dirty="0"/>
          </a:p>
        </p:txBody>
      </p:sp>
      <p:cxnSp>
        <p:nvCxnSpPr>
          <p:cNvPr id="8" name="Arrow 8"/>
          <p:cNvCxnSpPr/>
          <p:nvPr/>
        </p:nvCxnSpPr>
        <p:spPr>
          <a:xfrm>
            <a:off x="4160520" y="2331720"/>
            <a:ext cx="640080" cy="0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892040" y="1600200"/>
            <a:ext cx="3246120" cy="178308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C46A1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056632" y="1737360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C46A1A"/>
                </a:solidFill>
                <a:latin typeface="Aptos"/>
              </a:rPr>
              <a:t>2. Human queue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5056632" y="1984248"/>
            <a:ext cx="2916936" cy="8686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Open the annotation queue and review a selected trace with the project score configs.</a:t>
            </a:r>
            <a:endParaRPr lang="en-US" dirty="0"/>
          </a:p>
        </p:txBody>
      </p:sp>
      <p:cxnSp>
        <p:nvCxnSpPr>
          <p:cNvPr id="12" name="Arrow 12"/>
          <p:cNvCxnSpPr/>
          <p:nvPr/>
        </p:nvCxnSpPr>
        <p:spPr>
          <a:xfrm>
            <a:off x="8275320" y="2331720"/>
            <a:ext cx="640080" cy="0"/>
          </a:xfrm>
          <a:prstGeom prst="line">
            <a:avLst/>
          </a:prstGeom>
          <a:ln w="24000">
            <a:solidFill>
              <a:srgbClr val="2F6FED"/>
            </a:solidFill>
            <a:tailEnd type="triangle" w="med" len="med"/>
          </a:ln>
        </p:spPr>
      </p:cxnSp>
      <p:sp>
        <p:nvSpPr>
          <p:cNvPr id="13" name="Box 13"/>
          <p:cNvSpPr/>
          <p:nvPr/>
        </p:nvSpPr>
        <p:spPr>
          <a:xfrm>
            <a:off x="9006840" y="1600199"/>
            <a:ext cx="2331720" cy="1828799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2E7D3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171432" y="1737360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1500" b="1" dirty="0">
                <a:solidFill>
                  <a:srgbClr val="2E7D32"/>
                </a:solidFill>
                <a:latin typeface="Aptos"/>
              </a:rPr>
              <a:t>3. Scores</a:t>
            </a:r>
            <a:endParaRPr lang="en-US" sz="1500"/>
          </a:p>
        </p:txBody>
      </p:sp>
      <p:sp>
        <p:nvSpPr>
          <p:cNvPr id="15" name="TextBox 15"/>
          <p:cNvSpPr txBox="1"/>
          <p:nvPr/>
        </p:nvSpPr>
        <p:spPr>
          <a:xfrm>
            <a:off x="9171432" y="1984248"/>
            <a:ext cx="2002536" cy="8686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dirty="0">
                <a:solidFill>
                  <a:srgbClr val="111827"/>
                </a:solidFill>
                <a:latin typeface="Aptos"/>
              </a:rPr>
              <a:t>Compare EVAL and ANNOTATION scores for the same metric and run.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1051560" y="3657600"/>
            <a:ext cx="9692640" cy="1783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80000" algn="l"/>
            <a:r>
              <a:rPr b="1" dirty="0">
                <a:solidFill>
                  <a:srgbClr val="111827"/>
                </a:solidFill>
                <a:latin typeface="Aptos"/>
              </a:rPr>
              <a:t>Suggested script:</a:t>
            </a:r>
            <a:endParaRPr lang="en-US" b="1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Run or open a completed baseline/candidate experiment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Inspect a trace and its output observation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Show judge score on the trace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Open the human annotation queue item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Show score comparison by metric/source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l">
              <a:buNone/>
            </a:pPr>
            <a:r>
              <a:rPr sz="2600" b="1" dirty="0">
                <a:solidFill>
                  <a:srgbClr val="17324D"/>
                </a:solidFill>
                <a:latin typeface="Aptos"/>
              </a:rPr>
              <a:t>Takeaways</a:t>
            </a:r>
            <a:endParaRPr lang="en-US" sz="2600"/>
          </a:p>
        </p:txBody>
      </p:sp>
      <p:sp>
        <p:nvSpPr>
          <p:cNvPr id="4" name="rule"/>
          <p:cNvSpPr/>
          <p:nvPr/>
        </p:nvSpPr>
        <p:spPr>
          <a:xfrm>
            <a:off x="612648" y="1170432"/>
            <a:ext cx="1088136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60120" y="1600200"/>
            <a:ext cx="9966960" cy="3108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The repository </a:t>
            </a:r>
            <a:r>
              <a:rPr b="1" dirty="0">
                <a:solidFill>
                  <a:srgbClr val="111827"/>
                </a:solidFill>
                <a:latin typeface="Aptos"/>
              </a:rPr>
              <a:t>defines</a:t>
            </a:r>
            <a:r>
              <a:rPr dirty="0">
                <a:solidFill>
                  <a:srgbClr val="111827"/>
                </a:solidFill>
                <a:latin typeface="Aptos"/>
              </a:rPr>
              <a:t> the evaluation project; Langfuse hosts the operational artifacts and results.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The workflow has three phases: create artifacts, sync Langfuse, run experiments.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LLM-as-Judge </a:t>
            </a:r>
            <a:r>
              <a:rPr b="1" dirty="0">
                <a:solidFill>
                  <a:srgbClr val="111827"/>
                </a:solidFill>
                <a:latin typeface="Aptos"/>
              </a:rPr>
              <a:t>accelerates</a:t>
            </a:r>
            <a:r>
              <a:rPr dirty="0">
                <a:solidFill>
                  <a:srgbClr val="111827"/>
                </a:solidFill>
                <a:latin typeface="Aptos"/>
              </a:rPr>
              <a:t> broad scoring; human annotation calibrates and validates it.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Scores become </a:t>
            </a:r>
            <a:r>
              <a:rPr b="1" dirty="0">
                <a:solidFill>
                  <a:srgbClr val="111827"/>
                </a:solidFill>
                <a:latin typeface="Aptos"/>
              </a:rPr>
              <a:t>comparable</a:t>
            </a:r>
            <a:r>
              <a:rPr dirty="0">
                <a:solidFill>
                  <a:srgbClr val="111827"/>
                </a:solidFill>
                <a:latin typeface="Aptos"/>
              </a:rPr>
              <a:t> because traces, prompts, models, parameters, run IDs, and metric schemas are linked.</a:t>
            </a:r>
            <a:endParaRPr lang="en-US" dirty="0"/>
          </a:p>
          <a:p>
            <a:pPr marL="36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111827"/>
                </a:solidFill>
                <a:latin typeface="Aptos"/>
              </a:rPr>
              <a:t>The harness </a:t>
            </a:r>
            <a:r>
              <a:rPr sz="1700" dirty="0">
                <a:solidFill>
                  <a:srgbClr val="111827"/>
                </a:solidFill>
                <a:latin typeface="Aptos"/>
              </a:rPr>
              <a:t>gives teams a </a:t>
            </a:r>
            <a:r>
              <a:rPr sz="1700" b="1" dirty="0">
                <a:solidFill>
                  <a:srgbClr val="111827"/>
                </a:solidFill>
                <a:latin typeface="Aptos"/>
              </a:rPr>
              <a:t>repeatable loop for model, prompt, and parameter changes</a:t>
            </a:r>
            <a:r>
              <a:rPr sz="1700" dirty="0">
                <a:solidFill>
                  <a:srgbClr val="111827"/>
                </a:solidFill>
                <a:latin typeface="Aptos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1017</Words>
  <Application>Microsoft Office PowerPoint</Application>
  <PresentationFormat>Widescreen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Caldas, Marcelo (CDC/NCEZID/OD) (CTR)</dc:creator>
  <cp:lastModifiedBy>Caldas, Marcelo (CDC/NCEZID/OD) (CTR)</cp:lastModifiedBy>
  <cp:revision>2</cp:revision>
  <dcterms:modified xsi:type="dcterms:W3CDTF">2026-06-02T23:38:26Z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94a7b8-f06c-4dfe-bdcc-9b548fd58c31_Enabled">
    <vt:lpwstr>true</vt:lpwstr>
  </property>
  <property fmtid="{D5CDD505-2E9C-101B-9397-08002B2CF9AE}" pid="3" name="MSIP_Label_7b94a7b8-f06c-4dfe-bdcc-9b548fd58c31_SetDate">
    <vt:lpwstr>2026-06-01T21:36:07Z</vt:lpwstr>
  </property>
  <property fmtid="{D5CDD505-2E9C-101B-9397-08002B2CF9AE}" pid="4" name="MSIP_Label_7b94a7b8-f06c-4dfe-bdcc-9b548fd58c31_Method">
    <vt:lpwstr>Privileged</vt:lpwstr>
  </property>
  <property fmtid="{D5CDD505-2E9C-101B-9397-08002B2CF9AE}" pid="5" name="MSIP_Label_7b94a7b8-f06c-4dfe-bdcc-9b548fd58c31_Name">
    <vt:lpwstr>7b94a7b8-f06c-4dfe-bdcc-9b548fd58c31</vt:lpwstr>
  </property>
  <property fmtid="{D5CDD505-2E9C-101B-9397-08002B2CF9AE}" pid="6" name="MSIP_Label_7b94a7b8-f06c-4dfe-bdcc-9b548fd58c31_SiteId">
    <vt:lpwstr>9ce70869-60db-44fd-abe8-d2767077fc8f</vt:lpwstr>
  </property>
  <property fmtid="{D5CDD505-2E9C-101B-9397-08002B2CF9AE}" pid="7" name="MSIP_Label_7b94a7b8-f06c-4dfe-bdcc-9b548fd58c31_ActionId">
    <vt:lpwstr>da74f0eb-8f04-435b-9dd2-63ca23785e7b</vt:lpwstr>
  </property>
  <property fmtid="{D5CDD505-2E9C-101B-9397-08002B2CF9AE}" pid="8" name="MSIP_Label_7b94a7b8-f06c-4dfe-bdcc-9b548fd58c31_ContentBits">
    <vt:lpwstr>0</vt:lpwstr>
  </property>
  <property fmtid="{D5CDD505-2E9C-101B-9397-08002B2CF9AE}" pid="9" name="MSIP_Label_7b94a7b8-f06c-4dfe-bdcc-9b548fd58c31_Tag">
    <vt:lpwstr>10, 0, 1, 1</vt:lpwstr>
  </property>
</Properties>
</file>